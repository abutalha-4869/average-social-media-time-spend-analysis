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10.xml" ContentType="application/vnd.openxmlformats-officedocument.drawingml.chart+xml"/>
  <Override PartName="/ppt/charts/chart1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12.xml" ContentType="application/vnd.openxmlformats-officedocument.drawingml.chart+xml"/>
  <Override PartName="/ppt/charts/chart1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1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0800915-6983-c715-fc1f-74fd0570e999}">
          <p14:sldIdLst>
            <p14:sldId id="256"/>
          </p14:sldIdLst>
        </p14:section>
        <p14:section name="Overview" id="{3dc0983e-7bf9-924d-213e-eb84afe59453}">
          <p14:sldIdLst>
            <p14:sldId id="257"/>
            <p14:sldId id="258"/>
            <p14:sldId id="259"/>
          </p14:sldIdLst>
        </p14:section>
        <p14:section name="Users and platforms" id="{27aa26ce-4379-4c17-8f24-4f6d5ffe89b6}">
          <p14:sldIdLst>
            <p14:sldId id="260"/>
            <p14:sldId id="261"/>
            <p14:sldId id="262"/>
          </p14:sldIdLst>
        </p14:section>
        <p14:section name="Finance and interests" id="{8a7c186d-2ee0-6697-5f53-987e1c017237}">
          <p14:sldIdLst>
            <p14:sldId id="263"/>
          </p14:sldIdLst>
        </p14:section>
        <p14:section name="Wrap-up" id="{41a53537-0dab-f115-0f87-5c4182ac4a2d}">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Demographics</c:v>
                </c:pt>
              </c:strCache>
            </c:strRef>
          </c:tx>
          <c:spPr>
            <a:solidFill>
              <a:schemeClr val="accent1"/>
            </a:solidFill>
            <a:ln w="9525" cap="flat">
              <a:solidFill>
                <a:srgbClr val="F9F9F9"/>
              </a:solidFill>
              <a:prstDash val="solid"/>
              <a:round/>
            </a:ln>
            <a:effectLst/>
          </c:spPr>
          <c:dPt>
            <c:idx val="0"/>
            <c:bubble3D val="0"/>
            <c:spPr>
              <a:solidFill>
                <a:srgbClr val="E0212F"/>
              </a:solidFill>
              <a:ln w="38100" cap="flat">
                <a:solidFill>
                  <a:srgbClr val="0B1020"/>
                </a:solidFill>
                <a:prstDash val="solid"/>
                <a:round/>
              </a:ln>
              <a:effectLst/>
            </c:spPr>
          </c:dPt>
          <c:dPt>
            <c:idx val="1"/>
            <c:bubble3D val="0"/>
            <c:spPr>
              <a:solidFill>
                <a:srgbClr val="F4F6FF"/>
              </a:solidFill>
              <a:ln w="38100" cap="flat">
                <a:solidFill>
                  <a:srgbClr val="0B1020"/>
                </a:solidFill>
                <a:prstDash val="solid"/>
                <a:round/>
              </a:ln>
              <a:effectLst/>
            </c:spPr>
          </c:dPt>
          <c:dPt>
            <c:idx val="2"/>
            <c:bubble3D val="0"/>
            <c:spPr>
              <a:solidFill>
                <a:srgbClr val="2F86FF"/>
              </a:solidFill>
              <a:ln w="38100" cap="flat">
                <a:solidFill>
                  <a:srgbClr val="0B1020"/>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Rural</c:v>
                </c:pt>
                <c:pt idx="1">
                  <c:v>Sub_Urban</c:v>
                </c:pt>
                <c:pt idx="2">
                  <c:v>Urban</c:v>
                </c:pt>
              </c:strCache>
            </c:strRef>
          </c:cat>
          <c:val>
            <c:numRef>
              <c:f>Sheet1!$B$2:$B$4</c:f>
              <c:numCache>
                <c:ptCount val="3"/>
                <c:pt idx="0">
                  <c:v>34</c:v>
                </c:pt>
                <c:pt idx="1">
                  <c:v>33.5</c:v>
                </c:pt>
                <c:pt idx="2">
                  <c:v>32.5</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percentStacked"/>
        <c:varyColors val="0"/>
        <c:ser>
          <c:idx val="0"/>
          <c:order val="0"/>
          <c:tx>
            <c:strRef>
              <c:f>Sheet1!$B$1</c:f>
              <c:strCache>
                <c:ptCount val="1"/>
                <c:pt idx="0">
                  <c:v>female</c:v>
                </c:pt>
              </c:strCache>
            </c:strRef>
          </c:tx>
          <c:spPr>
            <a:solidFill>
              <a:srgbClr val="E0212F"/>
            </a:solidFill>
            <a:effectLst/>
          </c:spPr>
          <c:invertIfNegative val="0"/>
          <c:dLbls>
            <c:numFmt formatCode="0&quot;%&quot;" sourceLinked="0"/>
            <c:txPr>
              <a:bodyPr/>
              <a:lstStyle/>
              <a:p>
                <a:pPr>
                  <a:defRPr b="1" i="0" strike="noStrike" sz="1200" u="none">
                    <a:solidFill>
                      <a:srgbClr val="05060E"/>
                    </a:solidFill>
                    <a:latin typeface="+mn-lt"/>
                  </a:defRPr>
                </a:pPr>
              </a:p>
            </c:txPr>
            <c:showLegendKey val="0"/>
            <c:showVal val="1"/>
            <c:showCatName val="0"/>
            <c:showSerName val="0"/>
            <c:showPercent val="0"/>
            <c:showBubbleSize val="0"/>
            <c:showLeaderLines val="0"/>
          </c:dLbls>
          <c:cat>
            <c:multiLvlStrRef>
              <c:f>Sheet1!$A$2:$A$4</c:f>
              <c:multiLvlStrCache>
                <c:ptCount val="3"/>
                <c:lvl>
                  <c:pt idx="0">
                    <c:v>Instagram</c:v>
                  </c:pt>
                  <c:pt idx="1">
                    <c:v>YouTube</c:v>
                  </c:pt>
                  <c:pt idx="2">
                    <c:v>Facebook</c:v>
                  </c:pt>
                </c:lvl>
              </c:multiLvlStrCache>
            </c:multiLvlStrRef>
          </c:cat>
          <c:val>
            <c:numRef>
              <c:f>Sheet1!$B$2:$B$4</c:f>
              <c:numCache>
                <c:formatCode>General</c:formatCode>
                <c:ptCount val="3"/>
                <c:pt idx="0">
                  <c:v>38</c:v>
                </c:pt>
                <c:pt idx="1">
                  <c:v>36</c:v>
                </c:pt>
                <c:pt idx="2">
                  <c:v>29</c:v>
                </c:pt>
              </c:numCache>
            </c:numRef>
          </c:val>
        </c:ser>
        <c:ser>
          <c:idx val="1"/>
          <c:order val="1"/>
          <c:tx>
            <c:strRef>
              <c:f>Sheet1!$C$1</c:f>
              <c:strCache>
                <c:ptCount val="1"/>
                <c:pt idx="0">
                  <c:v>male</c:v>
                </c:pt>
              </c:strCache>
            </c:strRef>
          </c:tx>
          <c:spPr>
            <a:solidFill>
              <a:srgbClr val="F4F6FF"/>
            </a:solidFill>
            <a:effectLst/>
          </c:spPr>
          <c:invertIfNegative val="0"/>
          <c:dLbls>
            <c:numFmt formatCode="0&quot;%&quot;" sourceLinked="0"/>
            <c:txPr>
              <a:bodyPr/>
              <a:lstStyle/>
              <a:p>
                <a:pPr>
                  <a:defRPr b="1" i="0" strike="noStrike" sz="1200" u="none">
                    <a:solidFill>
                      <a:srgbClr val="05060E"/>
                    </a:solidFill>
                    <a:latin typeface="+mn-lt"/>
                  </a:defRPr>
                </a:pPr>
              </a:p>
            </c:txPr>
            <c:showLegendKey val="0"/>
            <c:showVal val="1"/>
            <c:showCatName val="0"/>
            <c:showSerName val="0"/>
            <c:showPercent val="0"/>
            <c:showBubbleSize val="0"/>
            <c:showLeaderLines val="0"/>
          </c:dLbls>
          <c:cat>
            <c:multiLvlStrRef>
              <c:f>Sheet1!$A$2:$A$4</c:f>
              <c:multiLvlStrCache>
                <c:ptCount val="3"/>
                <c:lvl>
                  <c:pt idx="0">
                    <c:v>Instagram</c:v>
                  </c:pt>
                  <c:pt idx="1">
                    <c:v>YouTube</c:v>
                  </c:pt>
                  <c:pt idx="2">
                    <c:v>Facebook</c:v>
                  </c:pt>
                </c:lvl>
              </c:multiLvlStrCache>
            </c:multiLvlStrRef>
          </c:cat>
          <c:val>
            <c:numRef>
              <c:f>Sheet1!$C$2:$C$4</c:f>
              <c:numCache>
                <c:formatCode>General</c:formatCode>
                <c:ptCount val="3"/>
                <c:pt idx="0">
                  <c:v>35</c:v>
                </c:pt>
                <c:pt idx="1">
                  <c:v>29</c:v>
                </c:pt>
                <c:pt idx="2">
                  <c:v>38</c:v>
                </c:pt>
              </c:numCache>
            </c:numRef>
          </c:val>
        </c:ser>
        <c:ser>
          <c:idx val="2"/>
          <c:order val="2"/>
          <c:tx>
            <c:strRef>
              <c:f>Sheet1!$D$1</c:f>
              <c:strCache>
                <c:ptCount val="1"/>
                <c:pt idx="0">
                  <c:v>non-binary</c:v>
                </c:pt>
              </c:strCache>
            </c:strRef>
          </c:tx>
          <c:spPr>
            <a:solidFill>
              <a:srgbClr val="2F86FF"/>
            </a:solidFill>
            <a:effectLst/>
          </c:spPr>
          <c:invertIfNegative val="0"/>
          <c:dLbls>
            <c:numFmt formatCode="0&quot;%&quot;" sourceLinked="0"/>
            <c:txPr>
              <a:bodyPr/>
              <a:lstStyle/>
              <a:p>
                <a:pPr>
                  <a:defRPr b="1" i="0" strike="noStrike" sz="1200" u="none">
                    <a:solidFill>
                      <a:srgbClr val="05060E"/>
                    </a:solidFill>
                    <a:latin typeface="+mn-lt"/>
                  </a:defRPr>
                </a:pPr>
              </a:p>
            </c:txPr>
            <c:showLegendKey val="0"/>
            <c:showVal val="1"/>
            <c:showCatName val="0"/>
            <c:showSerName val="0"/>
            <c:showPercent val="0"/>
            <c:showBubbleSize val="0"/>
            <c:showLeaderLines val="0"/>
          </c:dLbls>
          <c:cat>
            <c:multiLvlStrRef>
              <c:f>Sheet1!$A$2:$A$4</c:f>
              <c:multiLvlStrCache>
                <c:ptCount val="3"/>
                <c:lvl>
                  <c:pt idx="0">
                    <c:v>Instagram</c:v>
                  </c:pt>
                  <c:pt idx="1">
                    <c:v>YouTube</c:v>
                  </c:pt>
                  <c:pt idx="2">
                    <c:v>Facebook</c:v>
                  </c:pt>
                </c:lvl>
              </c:multiLvlStrCache>
            </c:multiLvlStrRef>
          </c:cat>
          <c:val>
            <c:numRef>
              <c:f>Sheet1!$D$2:$D$4</c:f>
              <c:numCache>
                <c:formatCode>General</c:formatCode>
                <c:ptCount val="3"/>
                <c:pt idx="0">
                  <c:v>27</c:v>
                </c:pt>
                <c:pt idx="1">
                  <c:v>35</c:v>
                </c:pt>
                <c:pt idx="2">
                  <c:v>33</c:v>
                </c:pt>
              </c:numCache>
            </c:numRef>
          </c:val>
        </c:ser>
        <c:dLbls>
          <c:numFmt formatCode="0&quot;%&quot;" sourceLinked="0"/>
          <c:txPr>
            <a:bodyPr/>
            <a:lstStyle/>
            <a:p>
              <a:pPr>
                <a:defRPr b="1" i="0" strike="noStrike" sz="1200" u="none">
                  <a:solidFill>
                    <a:srgbClr val="05060E"/>
                  </a:solidFill>
                  <a:latin typeface="+mn-lt"/>
                </a:defRPr>
              </a:pPr>
            </a:p>
          </c:txP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E2E8FF"/>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2A305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A9B4D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E2E8F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Users</c:v>
                </c:pt>
              </c:strCache>
            </c:strRef>
          </c:tx>
          <c:spPr>
            <a:solidFill>
              <a:srgbClr val="E0212F"/>
            </a:solidFill>
            <a:effectLst/>
          </c:spPr>
          <c:invertIfNegative val="0"/>
          <c:dLbls>
            <c:numFmt formatCode="#,##0" sourceLinked="0"/>
            <c:txPr>
              <a:bodyPr/>
              <a:lstStyle/>
              <a:p>
                <a:pPr>
                  <a:defRPr b="1" i="0" strike="noStrike" sz="14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E0212F"/>
              </a:solidFill>
              <a:effectLst/>
            </c:spPr>
          </c:dPt>
          <c:dPt>
            <c:idx val="1"/>
            <c:invertIfNegative val="0"/>
            <c:bubble3D val="0"/>
            <c:spPr>
              <a:solidFill>
                <a:srgbClr val="F4F6FF"/>
              </a:solidFill>
              <a:effectLst/>
            </c:spPr>
          </c:dPt>
          <c:dPt>
            <c:idx val="2"/>
            <c:invertIfNegative val="0"/>
            <c:bubble3D val="0"/>
            <c:spPr>
              <a:solidFill>
                <a:srgbClr val="2F86FF"/>
              </a:solidFill>
              <a:effectLst/>
            </c:spPr>
          </c:dPt>
          <c:cat>
            <c:multiLvlStrRef>
              <c:f>Sheet1!$A$2:$A$4</c:f>
              <c:multiLvlStrCache>
                <c:ptCount val="3"/>
                <c:lvl>
                  <c:pt idx="0">
                    <c:v>Instagram</c:v>
                  </c:pt>
                  <c:pt idx="1">
                    <c:v>YouTube</c:v>
                  </c:pt>
                  <c:pt idx="2">
                    <c:v>Facebook</c:v>
                  </c:pt>
                </c:lvl>
              </c:multiLvlStrCache>
            </c:multiLvlStrRef>
          </c:cat>
          <c:val>
            <c:numRef>
              <c:f>Sheet1!$B$2:$B$4</c:f>
              <c:numCache>
                <c:formatCode>General</c:formatCode>
                <c:ptCount val="3"/>
                <c:pt idx="0">
                  <c:v>362</c:v>
                </c:pt>
                <c:pt idx="1">
                  <c:v>331</c:v>
                </c:pt>
                <c:pt idx="2">
                  <c:v>307</c:v>
                </c:pt>
              </c:numCache>
            </c:numRef>
          </c:val>
        </c:ser>
        <c:dLbls>
          <c:numFmt formatCode="#,##0" sourceLinked="0"/>
          <c:txPr>
            <a:bodyPr/>
            <a:lstStyle/>
            <a:p>
              <a:pPr>
                <a:defRPr b="1" i="0" strike="noStrike" sz="1400" u="none">
                  <a:solidFill>
                    <a:srgbClr val="FFFFF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E2E8FF"/>
                </a:solidFill>
                <a:latin typeface="+mn-lt"/>
              </a:defRPr>
            </a:pPr>
            <a:endParaRPr lang="en-US"/>
          </a:p>
        </c:txPr>
        <c:crossAx val="2094734552"/>
        <c:crosses val="autoZero"/>
        <c:auto val="1"/>
        <c:lblAlgn val="ctr"/>
        <c:noMultiLvlLbl val="1"/>
      </c:catAx>
      <c:valAx>
        <c:axId val="2094734552"/>
        <c:scaling>
          <c:orientation val="minMax"/>
          <c:max val="43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A9B4D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time spent</c:v>
                </c:pt>
              </c:strCache>
            </c:strRef>
          </c:tx>
          <c:spPr>
            <a:solidFill>
              <a:srgbClr val="E0212F"/>
            </a:solidFill>
            <a:effectLst/>
          </c:spPr>
          <c:invertIfNegative val="0"/>
          <c:dLbls>
            <c:numFmt formatCode="0.0" sourceLinked="0"/>
            <c:txPr>
              <a:bodyPr/>
              <a:lstStyle/>
              <a:p>
                <a:pPr>
                  <a:defRPr b="1" i="0" strike="noStrike" sz="14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Instagram</c:v>
                  </c:pt>
                  <c:pt idx="1">
                    <c:v>Facebook</c:v>
                  </c:pt>
                  <c:pt idx="2">
                    <c:v>YouTube</c:v>
                  </c:pt>
                </c:lvl>
              </c:multiLvlStrCache>
            </c:multiLvlStrRef>
          </c:cat>
          <c:val>
            <c:numRef>
              <c:f>Sheet1!$B$2:$B$4</c:f>
              <c:numCache>
                <c:formatCode>General</c:formatCode>
                <c:ptCount val="3"/>
                <c:pt idx="0">
                  <c:v>5.2</c:v>
                </c:pt>
                <c:pt idx="1">
                  <c:v>5.1</c:v>
                </c:pt>
                <c:pt idx="2">
                  <c:v>4.9</c:v>
                </c:pt>
              </c:numCache>
            </c:numRef>
          </c:val>
        </c:ser>
        <c:dLbls>
          <c:numFmt formatCode="0.0" sourceLinked="0"/>
          <c:txPr>
            <a:bodyPr/>
            <a:lstStyle/>
            <a:p>
              <a:pPr>
                <a:defRPr b="1" i="0" strike="noStrike" sz="1400" u="none">
                  <a:solidFill>
                    <a:srgbClr val="FFFFFF"/>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E2E8FF"/>
                </a:solidFill>
                <a:latin typeface="+mn-lt"/>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9525" cap="flat">
              <a:solidFill>
                <a:srgbClr val="2A305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A9B4D6"/>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Avg time spent</c:v>
                </c:pt>
              </c:strCache>
            </c:strRef>
          </c:tx>
          <c:spPr>
            <a:solidFill>
              <a:srgbClr val="E0212F"/>
            </a:solidFill>
            <a:ln w="38100" cap="flat">
              <a:solidFill>
                <a:srgbClr val="E0212F"/>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8"/>
            <c:spPr>
              <a:solidFill>
                <a:srgbClr val="E0212F"/>
              </a:solidFill>
              <a:ln w="9525" cap="flat">
                <a:solidFill>
                  <a:srgbClr val="E0212F"/>
                </a:solidFill>
                <a:prstDash val="solid"/>
                <a:round/>
              </a:ln>
              <a:effectLst/>
            </c:spPr>
          </c:marker>
          <c:cat>
            <c:multiLvlStrRef>
              <c:f>Sheet1!$A$2:$A$12</c:f>
              <c:multiLvlStrCache>
                <c:ptCount val="11"/>
                <c:lvl>
                  <c:pt idx="0">
                    <c:v>18</c:v>
                  </c:pt>
                  <c:pt idx="1">
                    <c:v>19</c:v>
                  </c:pt>
                  <c:pt idx="2">
                    <c:v>20</c:v>
                  </c:pt>
                  <c:pt idx="3">
                    <c:v>21</c:v>
                  </c:pt>
                  <c:pt idx="4">
                    <c:v>22</c:v>
                  </c:pt>
                  <c:pt idx="5">
                    <c:v>23</c:v>
                  </c:pt>
                  <c:pt idx="6">
                    <c:v>24</c:v>
                  </c:pt>
                  <c:pt idx="7">
                    <c:v>25</c:v>
                  </c:pt>
                  <c:pt idx="8">
                    <c:v>26</c:v>
                  </c:pt>
                  <c:pt idx="9">
                    <c:v>27</c:v>
                  </c:pt>
                  <c:pt idx="10">
                    <c:v>28</c:v>
                  </c:pt>
                </c:lvl>
              </c:multiLvlStrCache>
            </c:multiLvlStrRef>
          </c:cat>
          <c:val>
            <c:numRef>
              <c:f>Sheet1!$B$2:$B$12</c:f>
              <c:numCache>
                <c:formatCode>General</c:formatCode>
                <c:ptCount val="11"/>
                <c:pt idx="0">
                  <c:v>5.25</c:v>
                </c:pt>
                <c:pt idx="1">
                  <c:v>5.95</c:v>
                </c:pt>
                <c:pt idx="2">
                  <c:v>5.75</c:v>
                </c:pt>
                <c:pt idx="3">
                  <c:v>5.35</c:v>
                </c:pt>
                <c:pt idx="4">
                  <c:v>5.15</c:v>
                </c:pt>
                <c:pt idx="5">
                  <c:v>4.3</c:v>
                </c:pt>
                <c:pt idx="6">
                  <c:v>5.35</c:v>
                </c:pt>
                <c:pt idx="7">
                  <c:v>4.7</c:v>
                </c:pt>
                <c:pt idx="8">
                  <c:v>4.3</c:v>
                </c:pt>
                <c:pt idx="9">
                  <c:v>4.7</c:v>
                </c:pt>
                <c:pt idx="10">
                  <c:v>5.6</c:v>
                </c:pt>
              </c:numCache>
            </c:numRef>
          </c:val>
          <c:smooth val="1"/>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E2E8FF"/>
                </a:solidFill>
                <a:latin typeface="+mn-lt"/>
              </a:defRPr>
            </a:pPr>
            <a:endParaRPr lang="en-US"/>
          </a:p>
        </c:txPr>
        <c:crossAx val="2094734552"/>
        <c:crosses val="autoZero"/>
        <c:auto val="1"/>
        <c:lblAlgn val="ctr"/>
        <c:noMultiLvlLbl val="1"/>
      </c:catAx>
      <c:valAx>
        <c:axId val="2094734552"/>
        <c:scaling>
          <c:orientation val="minMax"/>
          <c:max val="6.5"/>
          <c:min val="3"/>
        </c:scaling>
        <c:delete val="0"/>
        <c:axPos val="l"/>
        <c:majorGridlines>
          <c:spPr>
            <a:ln w="9525" cap="flat">
              <a:solidFill>
                <a:srgbClr val="2A305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A9B4D6"/>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Avg time spent</c:v>
                </c:pt>
              </c:strCache>
            </c:strRef>
          </c:tx>
          <c:spPr>
            <a:solidFill>
              <a:srgbClr val="E0212F"/>
            </a:solidFill>
            <a:effectLst/>
          </c:spPr>
          <c:invertIfNegative val="0"/>
          <c:dLbls>
            <c:numFmt formatCode="0.00" sourceLinked="0"/>
            <c:txPr>
              <a:bodyPr/>
              <a:lstStyle/>
              <a:p>
                <a:pPr>
                  <a:defRPr b="1" i="0" strike="noStrike" sz="13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Marketer Manager</c:v>
                  </c:pt>
                  <c:pt idx="1">
                    <c:v>Student</c:v>
                  </c:pt>
                  <c:pt idx="2">
                    <c:v>Software Engineer</c:v>
                  </c:pt>
                </c:lvl>
              </c:multiLvlStrCache>
            </c:multiLvlStrRef>
          </c:cat>
          <c:val>
            <c:numRef>
              <c:f>Sheet1!$B$2:$B$4</c:f>
              <c:numCache>
                <c:formatCode>General</c:formatCode>
                <c:ptCount val="3"/>
                <c:pt idx="0">
                  <c:v>5.15</c:v>
                </c:pt>
                <c:pt idx="1">
                  <c:v>5.05</c:v>
                </c:pt>
                <c:pt idx="2">
                  <c:v>4.95</c:v>
                </c:pt>
              </c:numCache>
            </c:numRef>
          </c:val>
        </c:ser>
        <c:dLbls>
          <c:numFmt formatCode="0.00" sourceLinked="0"/>
          <c:txPr>
            <a:bodyPr/>
            <a:lstStyle/>
            <a:p>
              <a:pPr>
                <a:defRPr b="1" i="0" strike="noStrike" sz="1300" u="none">
                  <a:solidFill>
                    <a:srgbClr val="FFFFF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E2E8FF"/>
                </a:solidFill>
                <a:latin typeface="+mn-lt"/>
              </a:defRPr>
            </a:pPr>
            <a:endParaRPr lang="en-US"/>
          </a:p>
        </c:txPr>
        <c:crossAx val="2094734552"/>
        <c:crosses val="autoZero"/>
        <c:auto val="1"/>
        <c:lblAlgn val="ctr"/>
        <c:noMultiLvlLbl val="1"/>
      </c:catAx>
      <c:valAx>
        <c:axId val="2094734552"/>
        <c:scaling>
          <c:orientation val="minMax"/>
          <c:max val="7"/>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A9B4D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In debt</c:v>
                </c:pt>
              </c:strCache>
            </c:strRef>
          </c:tx>
          <c:spPr>
            <a:solidFill>
              <a:schemeClr val="accent1"/>
            </a:solidFill>
            <a:ln w="9525" cap="flat">
              <a:solidFill>
                <a:srgbClr val="F9F9F9"/>
              </a:solidFill>
              <a:prstDash val="solid"/>
              <a:round/>
            </a:ln>
            <a:effectLst/>
          </c:spPr>
          <c:dPt>
            <c:idx val="0"/>
            <c:bubble3D val="0"/>
            <c:spPr>
              <a:solidFill>
                <a:srgbClr val="E0212F"/>
              </a:solidFill>
              <a:ln w="38100" cap="flat">
                <a:solidFill>
                  <a:srgbClr val="0B1020"/>
                </a:solidFill>
                <a:prstDash val="solid"/>
                <a:round/>
              </a:ln>
              <a:effectLst/>
            </c:spPr>
          </c:dPt>
          <c:dPt>
            <c:idx val="1"/>
            <c:bubble3D val="0"/>
            <c:spPr>
              <a:solidFill>
                <a:srgbClr val="2F86FF"/>
              </a:solidFill>
              <a:ln w="38100" cap="flat">
                <a:solidFill>
                  <a:srgbClr val="0B1020"/>
                </a:solidFill>
                <a:prstDash val="solid"/>
                <a:round/>
              </a:ln>
              <a:effectLst/>
            </c:spPr>
          </c:dPt>
          <c:dLbls>
            <c:dLbl>
              <c:idx val="0"/>
              <c:numFmt formatCode="0.0%" sourceLinked="0"/>
              <c:spPr/>
              <c:txPr>
                <a:bodyPr/>
                <a:lstStyle/>
                <a:p>
                  <a:pPr>
                    <a:defRPr sz="1500" b="1" i="0" u="none" strike="noStrike">
                      <a:solidFill>
                        <a:srgbClr val="FFFFFF"/>
                      </a:solidFill>
                      <a:latin typeface="+mn-lt"/>
                    </a:defRPr>
                  </a:pPr>
                </a:p>
              </c:txPr>
              <c:dLblPos val="ctr"/>
              <c:showLegendKey val="0"/>
              <c:showVal val="0"/>
              <c:showCatName val="0"/>
              <c:showSerName val="0"/>
              <c:showPercent val="1"/>
              <c:showBubbleSize val="0"/>
            </c:dLbl>
            <c:dLbl>
              <c:idx val="1"/>
              <c:numFmt formatCode="0.0%" sourceLinked="0"/>
              <c:spPr/>
              <c:txPr>
                <a:bodyPr/>
                <a:lstStyle/>
                <a:p>
                  <a:pPr>
                    <a:defRPr sz="1500" b="1" i="0" u="none" strike="noStrike">
                      <a:solidFill>
                        <a:srgbClr val="FFFFFF"/>
                      </a:solidFill>
                      <a:latin typeface="+mn-lt"/>
                    </a:defRPr>
                  </a:pPr>
                </a:p>
              </c:txPr>
              <c:dLblPos val="ctr"/>
              <c:showLegendKey val="0"/>
              <c:showVal val="0"/>
              <c:showCatName val="0"/>
              <c:showSerName val="0"/>
              <c:showPercent val="1"/>
              <c:showBubbleSize val="0"/>
            </c:dLbl>
            <c:numFmt formatCode="0.0%"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False</c:v>
                </c:pt>
                <c:pt idx="1">
                  <c:v>True</c:v>
                </c:pt>
              </c:strCache>
            </c:strRef>
          </c:cat>
          <c:val>
            <c:numRef>
              <c:f>Sheet1!$B$2:$B$3</c:f>
              <c:numCache>
                <c:ptCount val="2"/>
                <c:pt idx="0">
                  <c:v>503</c:v>
                </c:pt>
                <c:pt idx="1">
                  <c:v>497</c:v>
                </c:pt>
              </c:numCache>
            </c:numRef>
          </c:val>
        </c:ser>
        <c:firstSliceAng val="0"/>
      </c:pieChart>
      <c:spPr>
        <a:noFill/>
        <a:ln>
          <a:noFill/>
        </a:ln>
        <a:effectLst/>
      </c:spPr>
    </c:plotArea>
    <c:legend>
      <c:legendPos val="b"/>
      <c:overlay val="0"/>
      <c:txPr>
        <a:bodyPr/>
        <a:lstStyle/>
        <a:p>
          <a:pPr>
            <a:defRPr sz="1400">
              <a:solidFill>
                <a:srgbClr val="E2E8F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Abu Talha Aslam Ansari, roll number 1250645012, under faculty Shubham Pathak. This is the IBM project: a Power BI dashboard that analyses the average time 1,000 users spend on Instagram, YouTube and Facebook.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original Power BI dashboard. The next slides explain it piece by piece: headline numbers, time spent, who the users are, the platforms, age and profession, and finally debt and interests.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headline numbers from the top-right of the dashboard: average age 40.99, 1K users, average time spent 5.03 and average income 15.01K. The currency and the unit of time_spent are not shown on the dashboard, so describe them only as in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gauge on the dashboard: minimum 1, maximum 9, average 5.03. The average is about halfway between the lowest and highest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users are split almost equally across rural (34%), sub-urban (33.5%) and urban (32.5%) areas. Right: gender share per platform, read off the 100% stacked bars, so the percentages are approximate. Red is female, white is male, blue is non-binary, as on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number of users per platform, about 362 / 331 / 307 (they add up to roughly 1,000). Right: average time spent per platform, about 5.2 / 5.1 / 4.9. All values are read from the charts so they are approximate. The differences between platforms are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average time spent for each age from 18 to 28, read from the smoothed line chart, so values are approximate. The highest point is near 19 and the lowest near 23 and 26. Right: by profession, Marketer Manager, Student and Software Engineer are almost the same. Note for Q&amp;A: the age KPI shows an average age of 40.99, while this chart only shows ages 18 to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503 users are not in debt and 497 are in debt, so it is almost exactly 50-50. Right: the interest treemap shows Lifestyle, Sports and Travel with nearly equal areas, so each is roughly one third. The percentages are estimated from the box sizes, so call them approximate.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the audience is balanced, Instagram leads by a small margin, time spent changes with age, and most other groups look very similar. In short, social media time is fairly uniform across this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_SLID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83080"/>
            <a:ext cx="667512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640080" y="3246120"/>
            <a:ext cx="6035040" cy="731520"/>
          </a:xfrm>
          <a:prstGeom prst="rect">
            <a:avLst/>
          </a:prstGeom>
          <a:noFill/>
          <a:ln/>
        </p:spPr>
        <p:txBody>
          <a:bodyPr wrap="square" rtlCol="0"/>
          <a:lstStyle>
            <a:lvl1pPr algn="l" indent="0" marL="0">
              <a:buNone/>
              <a:defRPr lang="en-US" sz="1800" dirty="0">
                <a:solidFill>
                  <a:srgbClr val="C9D2F0"/>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327648"/>
            <a:ext cx="5486400" cy="320040"/>
          </a:xfrm>
          <a:prstGeom prst="rect">
            <a:avLst/>
          </a:prstGeom>
          <a:noFill/>
          <a:ln/>
        </p:spPr>
        <p:txBody>
          <a:bodyPr wrap="square" lIns="0" tIns="0" rIns="0" bIns="0" rtlCol="0" anchor="ctr"/>
          <a:lstStyle/>
          <a:p>
            <a:pPr indent="0" marL="0">
              <a:buNone/>
            </a:pPr>
            <a:r>
              <a:rPr lang="en-US" sz="1000" spc="200" kern="0" dirty="0">
                <a:solidFill>
                  <a:srgbClr val="FF5A67"/>
                </a:solidFill>
                <a:latin typeface="Courier New" pitchFamily="34" charset="0"/>
                <a:ea typeface="Courier New" pitchFamily="34" charset="-122"/>
                <a:cs typeface="Courier New" pitchFamily="34" charset="-120"/>
              </a:rPr>
              <a:t>SOCIAL_MEDIA_TIME // ANALYSIS</a:t>
            </a:r>
            <a:endParaRPr lang="en-US" sz="1000" dirty="0"/>
          </a:p>
        </p:txBody>
      </p:sp>
      <p:sp>
        <p:nvSpPr>
          <p:cNvPr id="3" name="Text 1"/>
          <p:cNvSpPr/>
          <p:nvPr>
            <p:ph idx="101" type="title" hasCustomPrompt="1"/>
          </p:nvPr>
        </p:nvSpPr>
        <p:spPr>
          <a:xfrm>
            <a:off x="548640" y="530352"/>
            <a:ext cx="11064240"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FF5A67"/>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FF5A67"/>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7.png"/><Relationship Id="rId8" Type="http://schemas.openxmlformats.org/officeDocument/2006/relationships/slideLayout" Target="../slideLayouts/slideLayout2.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1.png"/><Relationship Id="rId6" Type="http://schemas.openxmlformats.org/officeDocument/2006/relationships/image" Target="../media/image-3-6.png"/><Relationship Id="rId7" Type="http://schemas.openxmlformats.org/officeDocument/2006/relationships/image" Target="../media/image-3-3.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3.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3.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8.xml"/><Relationship Id="rId4" Type="http://schemas.openxmlformats.org/officeDocument/2006/relationships/chart" Target="/ppt/charts/chart9.xml"/><Relationship Id="rId1" Type="http://schemas.openxmlformats.org/officeDocument/2006/relationships/image" Target="../media/image-5-1.png"/><Relationship Id="rId3" Type="http://schemas.openxmlformats.org/officeDocument/2006/relationships/image" Target="../media/image-5-2.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10.xml"/><Relationship Id="rId4" Type="http://schemas.openxmlformats.org/officeDocument/2006/relationships/chart" Target="/ppt/charts/chart11.xml"/><Relationship Id="rId1" Type="http://schemas.openxmlformats.org/officeDocument/2006/relationships/image" Target="../media/image-6-1.png"/><Relationship Id="rId3" Type="http://schemas.openxmlformats.org/officeDocument/2006/relationships/image" Target="../media/image-6-2.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12.xml"/><Relationship Id="rId4" Type="http://schemas.openxmlformats.org/officeDocument/2006/relationships/chart" Target="/ppt/charts/chart13.xml"/><Relationship Id="rId1" Type="http://schemas.openxmlformats.org/officeDocument/2006/relationships/image" Target="../media/image-7-1.png"/><Relationship Id="rId3" Type="http://schemas.openxmlformats.org/officeDocument/2006/relationships/image" Target="../media/image-7-2.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14.xml"/><Relationship Id="rId1"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2.png"/><Relationship Id="rId8" Type="http://schemas.openxmlformats.org/officeDocument/2006/relationships/image" Target="../media/image-8-7.pn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2.png"/><Relationship Id="rId6" Type="http://schemas.openxmlformats.org/officeDocument/2006/relationships/image" Target="../media/image-10-3.png"/><Relationship Id="rId7" Type="http://schemas.openxmlformats.org/officeDocument/2006/relationships/image" Target="../media/image-10-7.png"/><Relationship Id="rId8" Type="http://schemas.openxmlformats.org/officeDocument/2006/relationships/slideLayout" Target="../slideLayouts/slideLayout2.xml"/><Relationship Id="rId9"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Glass ring" descr="Glass ring">    </p:cNvPr>
          <p:cNvPicPr>
            <a:picLocks noChangeAspect="1"/>
          </p:cNvPicPr>
          <p:nvPr/>
        </p:nvPicPr>
        <p:blipFill>
          <a:blip r:embed="rId1"/>
          <a:stretch>
            <a:fillRect/>
          </a:stretch>
        </p:blipFill>
        <p:spPr>
          <a:xfrm>
            <a:off x="6949440" y="1600200"/>
            <a:ext cx="5669280" cy="3712464"/>
          </a:xfrm>
          <a:prstGeom prst="rect">
            <a:avLst/>
          </a:prstGeom>
        </p:spPr>
      </p:pic>
      <p:pic>
        <p:nvPicPr>
          <p:cNvPr id="3" name="Orb" descr="red glass orb">    </p:cNvPr>
          <p:cNvPicPr>
            <a:picLocks noChangeAspect="1"/>
          </p:cNvPicPr>
          <p:nvPr/>
        </p:nvPicPr>
        <p:blipFill>
          <a:blip r:embed="rId2"/>
          <a:stretch>
            <a:fillRect/>
          </a:stretch>
        </p:blipFill>
        <p:spPr>
          <a:xfrm>
            <a:off x="7638898" y="1420978"/>
            <a:ext cx="2735885" cy="2735885"/>
          </a:xfrm>
          <a:prstGeom prst="rect">
            <a:avLst/>
          </a:prstGeom>
        </p:spPr>
      </p:pic>
      <p:pic>
        <p:nvPicPr>
          <p:cNvPr id="4" name="Orb" descr="blue glass orb">    </p:cNvPr>
          <p:cNvPicPr>
            <a:picLocks noChangeAspect="1"/>
          </p:cNvPicPr>
          <p:nvPr/>
        </p:nvPicPr>
        <p:blipFill>
          <a:blip r:embed="rId3"/>
          <a:stretch>
            <a:fillRect/>
          </a:stretch>
        </p:blipFill>
        <p:spPr>
          <a:xfrm>
            <a:off x="9101938" y="2701138"/>
            <a:ext cx="2735885" cy="2735885"/>
          </a:xfrm>
          <a:prstGeom prst="rect">
            <a:avLst/>
          </a:prstGeom>
        </p:spPr>
      </p:pic>
      <p:pic>
        <p:nvPicPr>
          <p:cNvPr id="5" name="Orb" descr="white glass orb">    </p:cNvPr>
          <p:cNvPicPr>
            <a:picLocks noChangeAspect="1"/>
          </p:cNvPicPr>
          <p:nvPr/>
        </p:nvPicPr>
        <p:blipFill>
          <a:blip r:embed="rId4"/>
          <a:stretch>
            <a:fillRect/>
          </a:stretch>
        </p:blipFill>
        <p:spPr>
          <a:xfrm>
            <a:off x="10666476" y="1339596"/>
            <a:ext cx="932688" cy="932688"/>
          </a:xfrm>
          <a:prstGeom prst="rect">
            <a:avLst/>
          </a:prstGeom>
        </p:spPr>
      </p:pic>
      <p:pic>
        <p:nvPicPr>
          <p:cNvPr id="6" name="Orb" descr="red glass orb">    </p:cNvPr>
          <p:cNvPicPr>
            <a:picLocks noChangeAspect="1"/>
          </p:cNvPicPr>
          <p:nvPr/>
        </p:nvPicPr>
        <p:blipFill>
          <a:blip r:embed="rId5"/>
          <a:stretch>
            <a:fillRect/>
          </a:stretch>
        </p:blipFill>
        <p:spPr>
          <a:xfrm>
            <a:off x="7507224" y="4215384"/>
            <a:ext cx="621792" cy="621792"/>
          </a:xfrm>
          <a:prstGeom prst="rect">
            <a:avLst/>
          </a:prstGeom>
        </p:spPr>
      </p:pic>
      <p:pic>
        <p:nvPicPr>
          <p:cNvPr id="7" name="Orb" descr="blue glass orb">    </p:cNvPr>
          <p:cNvPicPr>
            <a:picLocks noChangeAspect="1"/>
          </p:cNvPicPr>
          <p:nvPr/>
        </p:nvPicPr>
        <p:blipFill>
          <a:blip r:embed="rId6"/>
          <a:stretch>
            <a:fillRect/>
          </a:stretch>
        </p:blipFill>
        <p:spPr>
          <a:xfrm>
            <a:off x="8617671" y="4868631"/>
            <a:ext cx="522305" cy="522305"/>
          </a:xfrm>
          <a:prstGeom prst="rect">
            <a:avLst/>
          </a:prstGeom>
        </p:spPr>
      </p:pic>
      <p:sp>
        <p:nvSpPr>
          <p:cNvPr id="8" name="Text 0"/>
          <p:cNvSpPr txBox="1"/>
          <p:nvPr/>
        </p:nvSpPr>
        <p:spPr>
          <a:xfrm>
            <a:off x="640080" y="1280160"/>
            <a:ext cx="6675120" cy="365760"/>
          </a:xfrm>
          <a:prstGeom prst="rect">
            <a:avLst/>
          </a:prstGeom>
          <a:noFill/>
          <a:ln/>
        </p:spPr>
        <p:txBody>
          <a:bodyPr wrap="square" lIns="0" tIns="0" rIns="0" bIns="0" rtlCol="0" anchor="t"/>
          <a:lstStyle/>
          <a:p>
            <a:pPr indent="0" marL="0">
              <a:buNone/>
            </a:pPr>
            <a:r>
              <a:rPr lang="en-US" sz="1400" b="1" spc="300" kern="0" dirty="0">
                <a:solidFill>
                  <a:srgbClr val="FF5A67"/>
                </a:solidFill>
                <a:latin typeface="Courier New" pitchFamily="34" charset="0"/>
                <a:ea typeface="Courier New" pitchFamily="34" charset="-122"/>
                <a:cs typeface="Courier New" pitchFamily="34" charset="-120"/>
              </a:rPr>
              <a:t>// IBM PROJECT  |  POWER BI DASHBOARD</a:t>
            </a:r>
            <a:endParaRPr lang="en-US" sz="1400" dirty="0"/>
          </a:p>
        </p:txBody>
      </p:sp>
      <p:sp>
        <p:nvSpPr>
          <p:cNvPr id="9" name="Text 0"/>
          <p:cNvSpPr/>
          <p:nvPr>
            <p:ph idx="100" type="title" hasCustomPrompt="1"/>
          </p:nvPr>
        </p:nvSpPr>
        <p:spPr>
          <a:xfrm>
            <a:off x="640080" y="1783080"/>
            <a:ext cx="6675120" cy="1371600"/>
          </a:xfrm>
          <a:prstGeom prst="rect">
            <a:avLst/>
          </a:prstGeom>
          <a:noFill/>
          <a:ln/>
        </p:spPr>
        <p:txBody>
          <a:bodyPr wrap="square" lIns="0" tIns="0" rIns="0" bIns="0" rtlCol="0" anchor="t"/>
          <a:lstStyle/>
          <a:p>
            <a:pPr algn="l" indent="0" marL="0">
              <a:buNone/>
            </a:pPr>
            <a:r>
              <a:rPr lang="en-US" sz="4000" b="1" dirty="0">
                <a:solidFill>
                  <a:schemeClr val="bg1"/>
                </a:solidFill>
              </a:rPr>
              <a:t>AVERAGE SOCIAL MEDIA TIME ANALYSIS</a:t>
            </a:r>
            <a:endParaRPr lang="en-US" sz="4000" dirty="0"/>
          </a:p>
        </p:txBody>
      </p:sp>
      <p:sp>
        <p:nvSpPr>
          <p:cNvPr id="10" name="Text 0"/>
          <p:cNvSpPr/>
          <p:nvPr>
            <p:ph idx="101" type="body" hasCustomPrompt="1"/>
          </p:nvPr>
        </p:nvSpPr>
        <p:spPr>
          <a:xfrm>
            <a:off x="640080" y="3246120"/>
            <a:ext cx="6035040" cy="731520"/>
          </a:xfrm>
          <a:prstGeom prst="rect">
            <a:avLst/>
          </a:prstGeom>
          <a:noFill/>
          <a:ln/>
        </p:spPr>
        <p:txBody>
          <a:bodyPr wrap="square" lIns="0" tIns="0" rIns="0" bIns="0" rtlCol="0" anchor="t"/>
          <a:lstStyle/>
          <a:p>
            <a:pPr algn="l" indent="0" marL="0">
              <a:buNone/>
            </a:pPr>
            <a:r>
              <a:rPr lang="en-US" sz="1800" dirty="0">
                <a:solidFill>
                  <a:srgbClr val="C9D2F0"/>
                </a:solidFill>
              </a:rPr>
              <a:t>How 1,000 users spend their time on Instagram, YouTube and Facebook</a:t>
            </a:r>
            <a:endParaRPr lang="en-US" sz="1800" dirty="0"/>
          </a:p>
        </p:txBody>
      </p:sp>
      <p:pic>
        <p:nvPicPr>
          <p:cNvPr id="11" name="Glass panel" descr="Glass panel">    </p:cNvPr>
          <p:cNvPicPr>
            <a:picLocks noChangeAspect="1"/>
          </p:cNvPicPr>
          <p:nvPr/>
        </p:nvPicPr>
        <p:blipFill>
          <a:blip r:embed="rId7"/>
          <a:stretch>
            <a:fillRect/>
          </a:stretch>
        </p:blipFill>
        <p:spPr>
          <a:xfrm>
            <a:off x="365760" y="3931920"/>
            <a:ext cx="6309360" cy="2331720"/>
          </a:xfrm>
          <a:prstGeom prst="rect">
            <a:avLst/>
          </a:prstGeom>
        </p:spPr>
      </p:pic>
      <p:sp>
        <p:nvSpPr>
          <p:cNvPr id="12" name="Text 3"/>
          <p:cNvSpPr txBox="1"/>
          <p:nvPr/>
        </p:nvSpPr>
        <p:spPr>
          <a:xfrm>
            <a:off x="960120" y="4389120"/>
            <a:ext cx="3657600" cy="274320"/>
          </a:xfrm>
          <a:prstGeom prst="rect">
            <a:avLst/>
          </a:prstGeom>
          <a:noFill/>
          <a:ln/>
        </p:spPr>
        <p:txBody>
          <a:bodyPr wrap="square" lIns="0" tIns="0" rIns="0" bIns="0" rtlCol="0" anchor="t"/>
          <a:lstStyle/>
          <a:p>
            <a:pPr indent="0" marL="0">
              <a:buNone/>
            </a:pPr>
            <a:r>
              <a:rPr lang="en-US" sz="1100" b="1" spc="300" kern="0" dirty="0">
                <a:solidFill>
                  <a:srgbClr val="FF5A67"/>
                </a:solidFill>
                <a:latin typeface="Courier New" pitchFamily="34" charset="0"/>
                <a:ea typeface="Courier New" pitchFamily="34" charset="-122"/>
                <a:cs typeface="Courier New" pitchFamily="34" charset="-120"/>
              </a:rPr>
              <a:t>PRESENTED BY</a:t>
            </a:r>
            <a:endParaRPr lang="en-US" sz="1100" dirty="0"/>
          </a:p>
        </p:txBody>
      </p:sp>
      <p:sp>
        <p:nvSpPr>
          <p:cNvPr id="13" name="Text 4"/>
          <p:cNvSpPr txBox="1"/>
          <p:nvPr/>
        </p:nvSpPr>
        <p:spPr>
          <a:xfrm>
            <a:off x="960120" y="4709160"/>
            <a:ext cx="5120640" cy="457200"/>
          </a:xfrm>
          <a:prstGeom prst="rect">
            <a:avLst/>
          </a:prstGeom>
          <a:noFill/>
          <a:ln/>
        </p:spPr>
        <p:txBody>
          <a:bodyPr wrap="square" lIns="0" tIns="0" rIns="0" bIns="0" rtlCol="0" anchor="t"/>
          <a:lstStyle/>
          <a:p>
            <a:pPr indent="0" marL="0">
              <a:buNone/>
            </a:pPr>
            <a:r>
              <a:rPr lang="en-US" sz="2400" b="1" dirty="0">
                <a:solidFill>
                  <a:schemeClr val="bg1"/>
                </a:solidFill>
              </a:rPr>
              <a:t>Abu Talha Aslam Ansari</a:t>
            </a:r>
            <a:endParaRPr lang="en-US" sz="2400" dirty="0"/>
          </a:p>
        </p:txBody>
      </p:sp>
      <p:sp>
        <p:nvSpPr>
          <p:cNvPr id="14" name="Text 5"/>
          <p:cNvSpPr txBox="1"/>
          <p:nvPr/>
        </p:nvSpPr>
        <p:spPr>
          <a:xfrm>
            <a:off x="960120" y="5230368"/>
            <a:ext cx="5120640" cy="320040"/>
          </a:xfrm>
          <a:prstGeom prst="rect">
            <a:avLst/>
          </a:prstGeom>
          <a:noFill/>
          <a:ln/>
        </p:spPr>
        <p:txBody>
          <a:bodyPr wrap="square" lIns="0" tIns="0" rIns="0" bIns="0" rtlCol="0" anchor="t"/>
          <a:lstStyle/>
          <a:p>
            <a:pPr indent="0" marL="0">
              <a:buNone/>
            </a:pPr>
            <a:r>
              <a:rPr lang="en-US" sz="1200" dirty="0">
                <a:solidFill>
                  <a:srgbClr val="A9B4D6"/>
                </a:solidFill>
                <a:latin typeface="Courier New" pitchFamily="34" charset="0"/>
                <a:ea typeface="Courier New" pitchFamily="34" charset="-122"/>
                <a:cs typeface="Courier New" pitchFamily="34" charset="-120"/>
              </a:rPr>
              <a:t>ROLL NO.  </a:t>
            </a:r>
            <a:pPr indent="0" marL="0">
              <a:buNone/>
            </a:pPr>
            <a:r>
              <a:rPr lang="en-US" sz="1600" b="1" dirty="0">
                <a:solidFill>
                  <a:schemeClr val="bg1"/>
                </a:solidFill>
                <a:latin typeface="Courier New" pitchFamily="34" charset="0"/>
                <a:ea typeface="Courier New" pitchFamily="34" charset="-122"/>
                <a:cs typeface="Courier New" pitchFamily="34" charset="-120"/>
              </a:rPr>
              <a:t>1250645012</a:t>
            </a:r>
            <a:endParaRPr lang="en-US" sz="1200" dirty="0"/>
          </a:p>
        </p:txBody>
      </p:sp>
      <p:sp>
        <p:nvSpPr>
          <p:cNvPr id="15" name="Text 6"/>
          <p:cNvSpPr txBox="1"/>
          <p:nvPr/>
        </p:nvSpPr>
        <p:spPr>
          <a:xfrm>
            <a:off x="960120" y="5559552"/>
            <a:ext cx="5120640" cy="320040"/>
          </a:xfrm>
          <a:prstGeom prst="rect">
            <a:avLst/>
          </a:prstGeom>
          <a:noFill/>
          <a:ln/>
        </p:spPr>
        <p:txBody>
          <a:bodyPr wrap="square" lIns="0" tIns="0" rIns="0" bIns="0" rtlCol="0" anchor="t"/>
          <a:lstStyle/>
          <a:p>
            <a:pPr indent="0" marL="0">
              <a:buNone/>
            </a:pPr>
            <a:r>
              <a:rPr lang="en-US" sz="1200" dirty="0">
                <a:solidFill>
                  <a:srgbClr val="A9B4D6"/>
                </a:solidFill>
                <a:latin typeface="Courier New" pitchFamily="34" charset="0"/>
                <a:ea typeface="Courier New" pitchFamily="34" charset="-122"/>
                <a:cs typeface="Courier New" pitchFamily="34" charset="-120"/>
              </a:rPr>
              <a:t>FACULTY   </a:t>
            </a:r>
            <a:pPr indent="0" marL="0">
              <a:buNone/>
            </a:pPr>
            <a:r>
              <a:rPr lang="en-US" sz="1600" b="1" dirty="0">
                <a:solidFill>
                  <a:schemeClr val="bg1"/>
                </a:solidFill>
                <a:latin typeface="Courier New" pitchFamily="34" charset="0"/>
                <a:ea typeface="Courier New" pitchFamily="34" charset="-122"/>
                <a:cs typeface="Courier New" pitchFamily="34" charset="-120"/>
              </a:rPr>
              <a:t>Shubham Pathak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indent="0" marL="0">
              <a:buNone/>
            </a:pPr>
            <a:r>
              <a:rPr lang="en-US" sz="1200" b="1" spc="300" kern="0" dirty="0">
                <a:solidFill>
                  <a:srgbClr val="FF5A67"/>
                </a:solidFill>
                <a:latin typeface="Courier New" pitchFamily="34" charset="0"/>
                <a:ea typeface="Courier New" pitchFamily="34" charset="-122"/>
                <a:cs typeface="Courier New" pitchFamily="34" charset="-120"/>
              </a:rPr>
              <a:t>// 01  THE SOURCE</a:t>
            </a:r>
            <a:endParaRPr lang="en-US" sz="1200" dirty="0"/>
          </a:p>
        </p:txBody>
      </p:sp>
      <p:sp>
        <p:nvSpPr>
          <p:cNvPr id="3" name="Text 1"/>
          <p:cNvSpPr/>
          <p:nvPr>
            <p:ph idx="101" type="title" hasCustomPrompt="1"/>
          </p:nvPr>
        </p:nvSpPr>
        <p:spPr>
          <a:xfrm>
            <a:off x="548640" y="530352"/>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rPr>
              <a:t>The dashboard behind this report</a:t>
            </a:r>
            <a:endParaRPr lang="en-US" sz="3400" dirty="0"/>
          </a:p>
        </p:txBody>
      </p:sp>
      <p:pic>
        <p:nvPicPr>
          <p:cNvPr id="4" name="Glass panel" descr="Glass panel">    </p:cNvPr>
          <p:cNvPicPr>
            <a:picLocks noChangeAspect="1"/>
          </p:cNvPicPr>
          <p:nvPr/>
        </p:nvPicPr>
        <p:blipFill>
          <a:blip r:embed="rId1"/>
          <a:stretch>
            <a:fillRect/>
          </a:stretch>
        </p:blipFill>
        <p:spPr>
          <a:xfrm>
            <a:off x="1554480" y="1143000"/>
            <a:ext cx="9089136" cy="5349240"/>
          </a:xfrm>
          <a:prstGeom prst="rect">
            <a:avLst/>
          </a:prstGeom>
        </p:spPr>
      </p:pic>
      <p:pic>
        <p:nvPicPr>
          <p:cNvPr id="5" name="Dashboard screenshot" descr="Power BI dashboard: Average Social Media Time Analysis">    </p:cNvPr>
          <p:cNvPicPr>
            <a:picLocks noChangeAspect="1"/>
          </p:cNvPicPr>
          <p:nvPr/>
        </p:nvPicPr>
        <p:blipFill>
          <a:blip r:embed="rId2"/>
          <a:stretch>
            <a:fillRect/>
          </a:stretch>
        </p:blipFill>
        <p:spPr>
          <a:xfrm>
            <a:off x="2029968" y="1536192"/>
            <a:ext cx="8138160" cy="4580750"/>
          </a:xfrm>
          <a:prstGeom prst="rect">
            <a:avLst/>
          </a:prstGeom>
        </p:spPr>
      </p:pic>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FF5A67"/>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indent="0" marL="0">
              <a:buNone/>
            </a:pPr>
            <a:r>
              <a:rPr lang="en-US" sz="1200" b="1" spc="300" kern="0" dirty="0">
                <a:solidFill>
                  <a:srgbClr val="FF5A67"/>
                </a:solidFill>
                <a:latin typeface="Courier New" pitchFamily="34" charset="0"/>
                <a:ea typeface="Courier New" pitchFamily="34" charset="-122"/>
                <a:cs typeface="Courier New" pitchFamily="34" charset="-120"/>
              </a:rPr>
              <a:t>// 02  OVERVIEW</a:t>
            </a:r>
            <a:endParaRPr lang="en-US" sz="1200" dirty="0"/>
          </a:p>
        </p:txBody>
      </p:sp>
      <p:sp>
        <p:nvSpPr>
          <p:cNvPr id="3" name="Text 1"/>
          <p:cNvSpPr/>
          <p:nvPr>
            <p:ph idx="101" type="title" hasCustomPrompt="1"/>
          </p:nvPr>
        </p:nvSpPr>
        <p:spPr>
          <a:xfrm>
            <a:off x="548640" y="530352"/>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rPr>
              <a:t>The dataset at a glance</a:t>
            </a:r>
            <a:endParaRPr lang="en-US" sz="3400" dirty="0"/>
          </a:p>
        </p:txBody>
      </p:sp>
      <p:pic>
        <p:nvPicPr>
          <p:cNvPr id="4" name="Glass panel" descr="Glass panel">    </p:cNvPr>
          <p:cNvPicPr>
            <a:picLocks noChangeAspect="1"/>
          </p:cNvPicPr>
          <p:nvPr/>
        </p:nvPicPr>
        <p:blipFill>
          <a:blip r:embed="rId1"/>
          <a:stretch>
            <a:fillRect/>
          </a:stretch>
        </p:blipFill>
        <p:spPr>
          <a:xfrm>
            <a:off x="274320" y="1188720"/>
            <a:ext cx="3108960" cy="3657600"/>
          </a:xfrm>
          <a:prstGeom prst="rect">
            <a:avLst/>
          </a:prstGeom>
        </p:spPr>
      </p:pic>
      <p:sp>
        <p:nvSpPr>
          <p:cNvPr id="5" name="Icon chip"/>
          <p:cNvSpPr/>
          <p:nvPr/>
        </p:nvSpPr>
        <p:spPr>
          <a:xfrm>
            <a:off x="822960" y="1737360"/>
            <a:ext cx="777240" cy="777240"/>
          </a:xfrm>
          <a:custGeom>
            <a:avLst/>
            <a:gdLst/>
            <a:ahLst/>
            <a:cxnLst/>
            <a:rect l="l" t="t" r="r" b="b"/>
            <a:pathLst>
              <a:path w="777240" h="777240">
                <a:moveTo>
                  <a:pt x="202082" y="0"/>
                </a:moveTo>
                <a:lnTo>
                  <a:pt x="575158" y="0"/>
                </a:lnTo>
                <a:lnTo>
                  <a:pt x="777240" y="202082"/>
                </a:lnTo>
                <a:lnTo>
                  <a:pt x="777240" y="575158"/>
                </a:lnTo>
                <a:lnTo>
                  <a:pt x="575158" y="777240"/>
                </a:lnTo>
                <a:lnTo>
                  <a:pt x="202082" y="777240"/>
                </a:lnTo>
                <a:lnTo>
                  <a:pt x="0" y="575158"/>
                </a:lnTo>
                <a:lnTo>
                  <a:pt x="0" y="202082"/>
                </a:lnTo>
                <a:close/>
              </a:path>
            </a:pathLst>
          </a:custGeom>
          <a:solidFill>
            <a:schemeClr val="tx1">
              <a:alpha val="70000"/>
            </a:schemeClr>
          </a:solidFill>
          <a:ln w="19050">
            <a:solidFill>
              <a:srgbClr val="E0212F"/>
            </a:solidFill>
            <a:prstDash val="solid"/>
          </a:ln>
        </p:spPr>
      </p:sp>
      <p:pic>
        <p:nvPicPr>
          <p:cNvPr id="6" name="Icon" descr="icon">    </p:cNvPr>
          <p:cNvPicPr>
            <a:picLocks noChangeAspect="1"/>
          </p:cNvPicPr>
          <p:nvPr/>
        </p:nvPicPr>
        <p:blipFill>
          <a:blip r:embed="rId2"/>
          <a:stretch>
            <a:fillRect/>
          </a:stretch>
        </p:blipFill>
        <p:spPr>
          <a:xfrm>
            <a:off x="861822" y="1776222"/>
            <a:ext cx="699516" cy="699516"/>
          </a:xfrm>
          <a:prstGeom prst="rect">
            <a:avLst/>
          </a:prstGeom>
        </p:spPr>
      </p:pic>
      <p:sp>
        <p:nvSpPr>
          <p:cNvPr id="7" name="Text 3"/>
          <p:cNvSpPr txBox="1"/>
          <p:nvPr/>
        </p:nvSpPr>
        <p:spPr>
          <a:xfrm>
            <a:off x="822960" y="2651760"/>
            <a:ext cx="2103120" cy="822960"/>
          </a:xfrm>
          <a:prstGeom prst="rect">
            <a:avLst/>
          </a:prstGeom>
          <a:noFill/>
          <a:ln/>
        </p:spPr>
        <p:txBody>
          <a:bodyPr wrap="square" lIns="0" tIns="0" rIns="0" bIns="0" rtlCol="0" anchor="ctr"/>
          <a:lstStyle/>
          <a:p>
            <a:pPr indent="0" marL="0">
              <a:buNone/>
            </a:pPr>
            <a:r>
              <a:rPr lang="en-US" sz="4400" b="1" dirty="0">
                <a:solidFill>
                  <a:srgbClr val="FF5A67"/>
                </a:solidFill>
                <a:latin typeface="Courier New" pitchFamily="34" charset="0"/>
                <a:ea typeface="Courier New" pitchFamily="34" charset="-122"/>
                <a:cs typeface="Courier New" pitchFamily="34" charset="-120"/>
              </a:rPr>
              <a:t>40.99</a:t>
            </a:r>
            <a:endParaRPr lang="en-US" sz="4400" dirty="0"/>
          </a:p>
        </p:txBody>
      </p:sp>
      <p:sp>
        <p:nvSpPr>
          <p:cNvPr id="8" name="Text 4"/>
          <p:cNvSpPr txBox="1"/>
          <p:nvPr/>
        </p:nvSpPr>
        <p:spPr>
          <a:xfrm>
            <a:off x="822960" y="3520440"/>
            <a:ext cx="2103120" cy="548640"/>
          </a:xfrm>
          <a:prstGeom prst="rect">
            <a:avLst/>
          </a:prstGeom>
          <a:noFill/>
          <a:ln/>
        </p:spPr>
        <p:txBody>
          <a:bodyPr wrap="square" lIns="0" tIns="0" rIns="0" bIns="0" rtlCol="0" anchor="t"/>
          <a:lstStyle/>
          <a:p>
            <a:pPr indent="0" marL="0">
              <a:buNone/>
            </a:pPr>
            <a:r>
              <a:rPr lang="en-US" sz="1200" dirty="0">
                <a:solidFill>
                  <a:srgbClr val="A9B4D6"/>
                </a:solidFill>
                <a:latin typeface="Courier New" pitchFamily="34" charset="0"/>
                <a:ea typeface="Courier New" pitchFamily="34" charset="-122"/>
                <a:cs typeface="Courier New" pitchFamily="34" charset="-120"/>
              </a:rPr>
              <a:t>AVERAGE AGE</a:t>
            </a:r>
            <a:endParaRPr lang="en-US" sz="1200" dirty="0"/>
          </a:p>
        </p:txBody>
      </p:sp>
      <p:pic>
        <p:nvPicPr>
          <p:cNvPr id="9" name="Glass panel" descr="Glass panel">    </p:cNvPr>
          <p:cNvPicPr>
            <a:picLocks noChangeAspect="1"/>
          </p:cNvPicPr>
          <p:nvPr/>
        </p:nvPicPr>
        <p:blipFill>
          <a:blip r:embed="rId3"/>
          <a:stretch>
            <a:fillRect/>
          </a:stretch>
        </p:blipFill>
        <p:spPr>
          <a:xfrm>
            <a:off x="3108960" y="1188720"/>
            <a:ext cx="3108960" cy="3657600"/>
          </a:xfrm>
          <a:prstGeom prst="rect">
            <a:avLst/>
          </a:prstGeom>
        </p:spPr>
      </p:pic>
      <p:sp>
        <p:nvSpPr>
          <p:cNvPr id="10" name="Icon chip"/>
          <p:cNvSpPr/>
          <p:nvPr/>
        </p:nvSpPr>
        <p:spPr>
          <a:xfrm>
            <a:off x="3657600" y="1737360"/>
            <a:ext cx="777240" cy="777240"/>
          </a:xfrm>
          <a:custGeom>
            <a:avLst/>
            <a:gdLst/>
            <a:ahLst/>
            <a:cxnLst/>
            <a:rect l="l" t="t" r="r" b="b"/>
            <a:pathLst>
              <a:path w="777240" h="777240">
                <a:moveTo>
                  <a:pt x="202082" y="0"/>
                </a:moveTo>
                <a:lnTo>
                  <a:pt x="575158" y="0"/>
                </a:lnTo>
                <a:lnTo>
                  <a:pt x="777240" y="202082"/>
                </a:lnTo>
                <a:lnTo>
                  <a:pt x="777240" y="575158"/>
                </a:lnTo>
                <a:lnTo>
                  <a:pt x="575158" y="777240"/>
                </a:lnTo>
                <a:lnTo>
                  <a:pt x="202082" y="777240"/>
                </a:lnTo>
                <a:lnTo>
                  <a:pt x="0" y="575158"/>
                </a:lnTo>
                <a:lnTo>
                  <a:pt x="0" y="202082"/>
                </a:lnTo>
                <a:close/>
              </a:path>
            </a:pathLst>
          </a:custGeom>
          <a:solidFill>
            <a:schemeClr val="tx1">
              <a:alpha val="70000"/>
            </a:schemeClr>
          </a:solidFill>
          <a:ln w="19050">
            <a:solidFill>
              <a:srgbClr val="2F86FF"/>
            </a:solidFill>
            <a:prstDash val="solid"/>
          </a:ln>
        </p:spPr>
      </p:sp>
      <p:pic>
        <p:nvPicPr>
          <p:cNvPr id="11" name="Icon" descr="icon">    </p:cNvPr>
          <p:cNvPicPr>
            <a:picLocks noChangeAspect="1"/>
          </p:cNvPicPr>
          <p:nvPr/>
        </p:nvPicPr>
        <p:blipFill>
          <a:blip r:embed="rId4"/>
          <a:stretch>
            <a:fillRect/>
          </a:stretch>
        </p:blipFill>
        <p:spPr>
          <a:xfrm>
            <a:off x="3696462" y="1776222"/>
            <a:ext cx="699516" cy="699516"/>
          </a:xfrm>
          <a:prstGeom prst="rect">
            <a:avLst/>
          </a:prstGeom>
        </p:spPr>
      </p:pic>
      <p:sp>
        <p:nvSpPr>
          <p:cNvPr id="12" name="Text 6"/>
          <p:cNvSpPr txBox="1"/>
          <p:nvPr/>
        </p:nvSpPr>
        <p:spPr>
          <a:xfrm>
            <a:off x="3657600" y="2651760"/>
            <a:ext cx="2103120" cy="822960"/>
          </a:xfrm>
          <a:prstGeom prst="rect">
            <a:avLst/>
          </a:prstGeom>
          <a:noFill/>
          <a:ln/>
        </p:spPr>
        <p:txBody>
          <a:bodyPr wrap="square" lIns="0" tIns="0" rIns="0" bIns="0" rtlCol="0" anchor="ctr"/>
          <a:lstStyle/>
          <a:p>
            <a:pPr indent="0" marL="0">
              <a:buNone/>
            </a:pPr>
            <a:r>
              <a:rPr lang="en-US" sz="4400" b="1" dirty="0">
                <a:solidFill>
                  <a:srgbClr val="6FB1FF"/>
                </a:solidFill>
                <a:latin typeface="Courier New" pitchFamily="34" charset="0"/>
                <a:ea typeface="Courier New" pitchFamily="34" charset="-122"/>
                <a:cs typeface="Courier New" pitchFamily="34" charset="-120"/>
              </a:rPr>
              <a:t>1K</a:t>
            </a:r>
            <a:endParaRPr lang="en-US" sz="4400" dirty="0"/>
          </a:p>
        </p:txBody>
      </p:sp>
      <p:sp>
        <p:nvSpPr>
          <p:cNvPr id="13" name="Text 7"/>
          <p:cNvSpPr txBox="1"/>
          <p:nvPr/>
        </p:nvSpPr>
        <p:spPr>
          <a:xfrm>
            <a:off x="3657600" y="3520440"/>
            <a:ext cx="2103120" cy="548640"/>
          </a:xfrm>
          <a:prstGeom prst="rect">
            <a:avLst/>
          </a:prstGeom>
          <a:noFill/>
          <a:ln/>
        </p:spPr>
        <p:txBody>
          <a:bodyPr wrap="square" lIns="0" tIns="0" rIns="0" bIns="0" rtlCol="0" anchor="t"/>
          <a:lstStyle/>
          <a:p>
            <a:pPr indent="0" marL="0">
              <a:buNone/>
            </a:pPr>
            <a:r>
              <a:rPr lang="en-US" sz="1200" dirty="0">
                <a:solidFill>
                  <a:srgbClr val="A9B4D6"/>
                </a:solidFill>
                <a:latin typeface="Courier New" pitchFamily="34" charset="0"/>
                <a:ea typeface="Courier New" pitchFamily="34" charset="-122"/>
                <a:cs typeface="Courier New" pitchFamily="34" charset="-120"/>
              </a:rPr>
              <a:t>USERS IN THE DATASET</a:t>
            </a:r>
            <a:endParaRPr lang="en-US" sz="1200" dirty="0"/>
          </a:p>
        </p:txBody>
      </p:sp>
      <p:pic>
        <p:nvPicPr>
          <p:cNvPr id="14" name="Glass panel" descr="Glass panel">    </p:cNvPr>
          <p:cNvPicPr>
            <a:picLocks noChangeAspect="1"/>
          </p:cNvPicPr>
          <p:nvPr/>
        </p:nvPicPr>
        <p:blipFill>
          <a:blip r:embed="rId5"/>
          <a:stretch>
            <a:fillRect/>
          </a:stretch>
        </p:blipFill>
        <p:spPr>
          <a:xfrm>
            <a:off x="5943600" y="1188720"/>
            <a:ext cx="3108960" cy="3657600"/>
          </a:xfrm>
          <a:prstGeom prst="rect">
            <a:avLst/>
          </a:prstGeom>
        </p:spPr>
      </p:pic>
      <p:sp>
        <p:nvSpPr>
          <p:cNvPr id="15" name="Icon chip"/>
          <p:cNvSpPr/>
          <p:nvPr/>
        </p:nvSpPr>
        <p:spPr>
          <a:xfrm>
            <a:off x="6492240" y="1737360"/>
            <a:ext cx="777240" cy="777240"/>
          </a:xfrm>
          <a:custGeom>
            <a:avLst/>
            <a:gdLst/>
            <a:ahLst/>
            <a:cxnLst/>
            <a:rect l="l" t="t" r="r" b="b"/>
            <a:pathLst>
              <a:path w="777240" h="777240">
                <a:moveTo>
                  <a:pt x="202082" y="0"/>
                </a:moveTo>
                <a:lnTo>
                  <a:pt x="575158" y="0"/>
                </a:lnTo>
                <a:lnTo>
                  <a:pt x="777240" y="202082"/>
                </a:lnTo>
                <a:lnTo>
                  <a:pt x="777240" y="575158"/>
                </a:lnTo>
                <a:lnTo>
                  <a:pt x="575158" y="777240"/>
                </a:lnTo>
                <a:lnTo>
                  <a:pt x="202082" y="777240"/>
                </a:lnTo>
                <a:lnTo>
                  <a:pt x="0" y="575158"/>
                </a:lnTo>
                <a:lnTo>
                  <a:pt x="0" y="202082"/>
                </a:lnTo>
                <a:close/>
              </a:path>
            </a:pathLst>
          </a:custGeom>
          <a:solidFill>
            <a:schemeClr val="tx1">
              <a:alpha val="70000"/>
            </a:schemeClr>
          </a:solidFill>
          <a:ln w="19050">
            <a:solidFill>
              <a:srgbClr val="E0212F"/>
            </a:solidFill>
            <a:prstDash val="solid"/>
          </a:ln>
        </p:spPr>
      </p:sp>
      <p:pic>
        <p:nvPicPr>
          <p:cNvPr id="16" name="Icon" descr="icon">    </p:cNvPr>
          <p:cNvPicPr>
            <a:picLocks noChangeAspect="1"/>
          </p:cNvPicPr>
          <p:nvPr/>
        </p:nvPicPr>
        <p:blipFill>
          <a:blip r:embed="rId6"/>
          <a:stretch>
            <a:fillRect/>
          </a:stretch>
        </p:blipFill>
        <p:spPr>
          <a:xfrm>
            <a:off x="6531102" y="1776222"/>
            <a:ext cx="699516" cy="699516"/>
          </a:xfrm>
          <a:prstGeom prst="rect">
            <a:avLst/>
          </a:prstGeom>
        </p:spPr>
      </p:pic>
      <p:sp>
        <p:nvSpPr>
          <p:cNvPr id="17" name="Text 9"/>
          <p:cNvSpPr txBox="1"/>
          <p:nvPr/>
        </p:nvSpPr>
        <p:spPr>
          <a:xfrm>
            <a:off x="6492240" y="2651760"/>
            <a:ext cx="2103120" cy="822960"/>
          </a:xfrm>
          <a:prstGeom prst="rect">
            <a:avLst/>
          </a:prstGeom>
          <a:noFill/>
          <a:ln/>
        </p:spPr>
        <p:txBody>
          <a:bodyPr wrap="square" lIns="0" tIns="0" rIns="0" bIns="0" rtlCol="0" anchor="ctr"/>
          <a:lstStyle/>
          <a:p>
            <a:pPr indent="0" marL="0">
              <a:buNone/>
            </a:pPr>
            <a:r>
              <a:rPr lang="en-US" sz="4400" b="1" dirty="0">
                <a:solidFill>
                  <a:srgbClr val="FF5A67"/>
                </a:solidFill>
                <a:latin typeface="Courier New" pitchFamily="34" charset="0"/>
                <a:ea typeface="Courier New" pitchFamily="34" charset="-122"/>
                <a:cs typeface="Courier New" pitchFamily="34" charset="-120"/>
              </a:rPr>
              <a:t>5.03</a:t>
            </a:r>
            <a:endParaRPr lang="en-US" sz="4400" dirty="0"/>
          </a:p>
        </p:txBody>
      </p:sp>
      <p:sp>
        <p:nvSpPr>
          <p:cNvPr id="18" name="Text 10"/>
          <p:cNvSpPr txBox="1"/>
          <p:nvPr/>
        </p:nvSpPr>
        <p:spPr>
          <a:xfrm>
            <a:off x="6492240" y="3520440"/>
            <a:ext cx="2103120" cy="548640"/>
          </a:xfrm>
          <a:prstGeom prst="rect">
            <a:avLst/>
          </a:prstGeom>
          <a:noFill/>
          <a:ln/>
        </p:spPr>
        <p:txBody>
          <a:bodyPr wrap="square" lIns="0" tIns="0" rIns="0" bIns="0" rtlCol="0" anchor="t"/>
          <a:lstStyle/>
          <a:p>
            <a:pPr indent="0" marL="0">
              <a:buNone/>
            </a:pPr>
            <a:r>
              <a:rPr lang="en-US" sz="1200" dirty="0">
                <a:solidFill>
                  <a:srgbClr val="A9B4D6"/>
                </a:solidFill>
                <a:latin typeface="Courier New" pitchFamily="34" charset="0"/>
                <a:ea typeface="Courier New" pitchFamily="34" charset="-122"/>
                <a:cs typeface="Courier New" pitchFamily="34" charset="-120"/>
              </a:rPr>
              <a:t>AVG. TIME SPENT (SCALE 1 TO 9)</a:t>
            </a:r>
            <a:endParaRPr lang="en-US" sz="1200" dirty="0"/>
          </a:p>
        </p:txBody>
      </p:sp>
      <p:pic>
        <p:nvPicPr>
          <p:cNvPr id="19" name="Glass panel" descr="Glass panel">    </p:cNvPr>
          <p:cNvPicPr>
            <a:picLocks noChangeAspect="1"/>
          </p:cNvPicPr>
          <p:nvPr/>
        </p:nvPicPr>
        <p:blipFill>
          <a:blip r:embed="rId7"/>
          <a:stretch>
            <a:fillRect/>
          </a:stretch>
        </p:blipFill>
        <p:spPr>
          <a:xfrm>
            <a:off x="8778240" y="1188720"/>
            <a:ext cx="3108960" cy="3657600"/>
          </a:xfrm>
          <a:prstGeom prst="rect">
            <a:avLst/>
          </a:prstGeom>
        </p:spPr>
      </p:pic>
      <p:sp>
        <p:nvSpPr>
          <p:cNvPr id="20" name="Icon chip"/>
          <p:cNvSpPr/>
          <p:nvPr/>
        </p:nvSpPr>
        <p:spPr>
          <a:xfrm>
            <a:off x="9326880" y="1737360"/>
            <a:ext cx="777240" cy="777240"/>
          </a:xfrm>
          <a:custGeom>
            <a:avLst/>
            <a:gdLst/>
            <a:ahLst/>
            <a:cxnLst/>
            <a:rect l="l" t="t" r="r" b="b"/>
            <a:pathLst>
              <a:path w="777240" h="777240">
                <a:moveTo>
                  <a:pt x="202082" y="0"/>
                </a:moveTo>
                <a:lnTo>
                  <a:pt x="575158" y="0"/>
                </a:lnTo>
                <a:lnTo>
                  <a:pt x="777240" y="202082"/>
                </a:lnTo>
                <a:lnTo>
                  <a:pt x="777240" y="575158"/>
                </a:lnTo>
                <a:lnTo>
                  <a:pt x="575158" y="777240"/>
                </a:lnTo>
                <a:lnTo>
                  <a:pt x="202082" y="777240"/>
                </a:lnTo>
                <a:lnTo>
                  <a:pt x="0" y="575158"/>
                </a:lnTo>
                <a:lnTo>
                  <a:pt x="0" y="202082"/>
                </a:lnTo>
                <a:close/>
              </a:path>
            </a:pathLst>
          </a:custGeom>
          <a:solidFill>
            <a:schemeClr val="tx1">
              <a:alpha val="70000"/>
            </a:schemeClr>
          </a:solidFill>
          <a:ln w="19050">
            <a:solidFill>
              <a:srgbClr val="2F86FF"/>
            </a:solidFill>
            <a:prstDash val="solid"/>
          </a:ln>
        </p:spPr>
      </p:sp>
      <p:pic>
        <p:nvPicPr>
          <p:cNvPr id="21" name="Icon" descr="icon">    </p:cNvPr>
          <p:cNvPicPr>
            <a:picLocks noChangeAspect="1"/>
          </p:cNvPicPr>
          <p:nvPr/>
        </p:nvPicPr>
        <p:blipFill>
          <a:blip r:embed="rId8"/>
          <a:stretch>
            <a:fillRect/>
          </a:stretch>
        </p:blipFill>
        <p:spPr>
          <a:xfrm>
            <a:off x="9365742" y="1776222"/>
            <a:ext cx="699516" cy="699516"/>
          </a:xfrm>
          <a:prstGeom prst="rect">
            <a:avLst/>
          </a:prstGeom>
        </p:spPr>
      </p:pic>
      <p:sp>
        <p:nvSpPr>
          <p:cNvPr id="22" name="Text 12"/>
          <p:cNvSpPr txBox="1"/>
          <p:nvPr/>
        </p:nvSpPr>
        <p:spPr>
          <a:xfrm>
            <a:off x="9326880" y="2651760"/>
            <a:ext cx="2103120" cy="822960"/>
          </a:xfrm>
          <a:prstGeom prst="rect">
            <a:avLst/>
          </a:prstGeom>
          <a:noFill/>
          <a:ln/>
        </p:spPr>
        <p:txBody>
          <a:bodyPr wrap="square" lIns="0" tIns="0" rIns="0" bIns="0" rtlCol="0" anchor="ctr"/>
          <a:lstStyle/>
          <a:p>
            <a:pPr indent="0" marL="0">
              <a:buNone/>
            </a:pPr>
            <a:r>
              <a:rPr lang="en-US" sz="4400" b="1" dirty="0">
                <a:solidFill>
                  <a:srgbClr val="6FB1FF"/>
                </a:solidFill>
                <a:latin typeface="Courier New" pitchFamily="34" charset="0"/>
                <a:ea typeface="Courier New" pitchFamily="34" charset="-122"/>
                <a:cs typeface="Courier New" pitchFamily="34" charset="-120"/>
              </a:rPr>
              <a:t>15.01K</a:t>
            </a:r>
            <a:endParaRPr lang="en-US" sz="4400" dirty="0"/>
          </a:p>
        </p:txBody>
      </p:sp>
      <p:sp>
        <p:nvSpPr>
          <p:cNvPr id="23" name="Text 13"/>
          <p:cNvSpPr txBox="1"/>
          <p:nvPr/>
        </p:nvSpPr>
        <p:spPr>
          <a:xfrm>
            <a:off x="9326880" y="3520440"/>
            <a:ext cx="2103120" cy="548640"/>
          </a:xfrm>
          <a:prstGeom prst="rect">
            <a:avLst/>
          </a:prstGeom>
          <a:noFill/>
          <a:ln/>
        </p:spPr>
        <p:txBody>
          <a:bodyPr wrap="square" lIns="0" tIns="0" rIns="0" bIns="0" rtlCol="0" anchor="t"/>
          <a:lstStyle/>
          <a:p>
            <a:pPr indent="0" marL="0">
              <a:buNone/>
            </a:pPr>
            <a:r>
              <a:rPr lang="en-US" sz="1200" dirty="0">
                <a:solidFill>
                  <a:srgbClr val="A9B4D6"/>
                </a:solidFill>
                <a:latin typeface="Courier New" pitchFamily="34" charset="0"/>
                <a:ea typeface="Courier New" pitchFamily="34" charset="-122"/>
                <a:cs typeface="Courier New" pitchFamily="34" charset="-120"/>
              </a:rPr>
              <a:t>AVERAGE INCOME</a:t>
            </a:r>
            <a:endParaRPr lang="en-US" sz="1200" dirty="0"/>
          </a:p>
        </p:txBody>
      </p:sp>
      <p:pic>
        <p:nvPicPr>
          <p:cNvPr id="24" name="Glass panel" descr="Glass panel">    </p:cNvPr>
          <p:cNvPicPr>
            <a:picLocks noChangeAspect="1"/>
          </p:cNvPicPr>
          <p:nvPr/>
        </p:nvPicPr>
        <p:blipFill>
          <a:blip r:embed="rId9"/>
          <a:stretch>
            <a:fillRect/>
          </a:stretch>
        </p:blipFill>
        <p:spPr>
          <a:xfrm>
            <a:off x="274320" y="4572000"/>
            <a:ext cx="11612880" cy="1463040"/>
          </a:xfrm>
          <a:prstGeom prst="rect">
            <a:avLst/>
          </a:prstGeom>
        </p:spPr>
      </p:pic>
      <p:sp>
        <p:nvSpPr>
          <p:cNvPr id="25" name="Text 14"/>
          <p:cNvSpPr txBox="1"/>
          <p:nvPr/>
        </p:nvSpPr>
        <p:spPr>
          <a:xfrm>
            <a:off x="868680" y="4846320"/>
            <a:ext cx="10424160" cy="914400"/>
          </a:xfrm>
          <a:prstGeom prst="rect">
            <a:avLst/>
          </a:prstGeom>
          <a:noFill/>
          <a:ln/>
        </p:spPr>
        <p:txBody>
          <a:bodyPr wrap="square" lIns="0" tIns="0" rIns="0" bIns="0" rtlCol="0" anchor="ctr"/>
          <a:lstStyle/>
          <a:p>
            <a:pPr indent="0" marL="0">
              <a:buNone/>
            </a:pPr>
            <a:r>
              <a:rPr lang="en-US" sz="1600" b="1" dirty="0">
                <a:solidFill>
                  <a:srgbClr val="FF5A67"/>
                </a:solidFill>
                <a:latin typeface="Courier New" pitchFamily="34" charset="0"/>
                <a:ea typeface="Courier New" pitchFamily="34" charset="-122"/>
                <a:cs typeface="Courier New" pitchFamily="34" charset="-120"/>
              </a:rPr>
              <a:t>&gt; </a:t>
            </a:r>
            <a:pPr indent="0" marL="0">
              <a:buNone/>
            </a:pPr>
            <a:r>
              <a:rPr lang="en-US" sz="1600" dirty="0">
                <a:solidFill>
                  <a:schemeClr val="bg1"/>
                </a:solidFill>
              </a:rPr>
              <a:t>The dashboard summarises 1,000 users: average age about 41, average income about 15K, and an average time-spent score of 5.03 on a scale that runs from 1 to 9.</a:t>
            </a:r>
            <a:endParaRPr lang="en-US" sz="16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FF5A67"/>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indent="0" marL="0">
              <a:buNone/>
            </a:pPr>
            <a:r>
              <a:rPr lang="en-US" sz="1200" b="1" spc="300" kern="0" dirty="0">
                <a:solidFill>
                  <a:srgbClr val="FF5A67"/>
                </a:solidFill>
                <a:latin typeface="Courier New" pitchFamily="34" charset="0"/>
                <a:ea typeface="Courier New" pitchFamily="34" charset="-122"/>
                <a:cs typeface="Courier New" pitchFamily="34" charset="-120"/>
              </a:rPr>
              <a:t>// 03  TIME SPENT</a:t>
            </a:r>
            <a:endParaRPr lang="en-US" sz="1200" dirty="0"/>
          </a:p>
        </p:txBody>
      </p:sp>
      <p:sp>
        <p:nvSpPr>
          <p:cNvPr id="3" name="Text 1"/>
          <p:cNvSpPr/>
          <p:nvPr>
            <p:ph idx="101" type="title" hasCustomPrompt="1"/>
          </p:nvPr>
        </p:nvSpPr>
        <p:spPr>
          <a:xfrm>
            <a:off x="548640" y="530352"/>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rPr>
              <a:t>How much time do people spend?</a:t>
            </a:r>
            <a:endParaRPr lang="en-US" sz="3400" dirty="0"/>
          </a:p>
        </p:txBody>
      </p:sp>
      <p:pic>
        <p:nvPicPr>
          <p:cNvPr id="4" name="Glass panel" descr="Glass panel">    </p:cNvPr>
          <p:cNvPicPr>
            <a:picLocks noChangeAspect="1"/>
          </p:cNvPicPr>
          <p:nvPr/>
        </p:nvPicPr>
        <p:blipFill>
          <a:blip r:embed="rId1"/>
          <a:stretch>
            <a:fillRect/>
          </a:stretch>
        </p:blipFill>
        <p:spPr>
          <a:xfrm>
            <a:off x="274320" y="1188720"/>
            <a:ext cx="11612880" cy="3474720"/>
          </a:xfrm>
          <a:prstGeom prst="rect">
            <a:avLst/>
          </a:prstGeom>
        </p:spPr>
      </p:pic>
      <p:sp>
        <p:nvSpPr>
          <p:cNvPr id="5" name="Text 2"/>
          <p:cNvSpPr txBox="1"/>
          <p:nvPr/>
        </p:nvSpPr>
        <p:spPr>
          <a:xfrm>
            <a:off x="914400" y="1783080"/>
            <a:ext cx="3108960" cy="1188720"/>
          </a:xfrm>
          <a:prstGeom prst="rect">
            <a:avLst/>
          </a:prstGeom>
          <a:noFill/>
          <a:ln/>
        </p:spPr>
        <p:txBody>
          <a:bodyPr wrap="square" lIns="0" tIns="0" rIns="0" bIns="0" rtlCol="0" anchor="ctr"/>
          <a:lstStyle/>
          <a:p>
            <a:pPr indent="0" marL="0">
              <a:buNone/>
            </a:pPr>
            <a:r>
              <a:rPr lang="en-US" sz="7000" b="1" dirty="0">
                <a:solidFill>
                  <a:srgbClr val="FF5A67"/>
                </a:solidFill>
                <a:latin typeface="Courier New" pitchFamily="34" charset="0"/>
                <a:ea typeface="Courier New" pitchFamily="34" charset="-122"/>
                <a:cs typeface="Courier New" pitchFamily="34" charset="-120"/>
              </a:rPr>
              <a:t>5.03</a:t>
            </a:r>
            <a:endParaRPr lang="en-US" sz="7000" dirty="0"/>
          </a:p>
        </p:txBody>
      </p:sp>
      <p:sp>
        <p:nvSpPr>
          <p:cNvPr id="6" name="Text 3"/>
          <p:cNvSpPr txBox="1"/>
          <p:nvPr/>
        </p:nvSpPr>
        <p:spPr>
          <a:xfrm>
            <a:off x="914400" y="3017520"/>
            <a:ext cx="3108960" cy="320040"/>
          </a:xfrm>
          <a:prstGeom prst="rect">
            <a:avLst/>
          </a:prstGeom>
          <a:noFill/>
          <a:ln/>
        </p:spPr>
        <p:txBody>
          <a:bodyPr wrap="square" lIns="0" tIns="0" rIns="0" bIns="0" rtlCol="0" anchor="t"/>
          <a:lstStyle/>
          <a:p>
            <a:pPr indent="0" marL="0">
              <a:buNone/>
            </a:pPr>
            <a:r>
              <a:rPr lang="en-US" sz="1200" b="1" dirty="0">
                <a:solidFill>
                  <a:schemeClr val="bg1"/>
                </a:solidFill>
                <a:latin typeface="Courier New" pitchFamily="34" charset="0"/>
                <a:ea typeface="Courier New" pitchFamily="34" charset="-122"/>
                <a:cs typeface="Courier New" pitchFamily="34" charset="-120"/>
              </a:rPr>
              <a:t>AVERAGE TIME SPENT</a:t>
            </a:r>
            <a:endParaRPr lang="en-US" sz="1200" dirty="0"/>
          </a:p>
        </p:txBody>
      </p:sp>
      <p:sp>
        <p:nvSpPr>
          <p:cNvPr id="7" name="Meter track"/>
          <p:cNvSpPr/>
          <p:nvPr/>
        </p:nvSpPr>
        <p:spPr>
          <a:xfrm>
            <a:off x="4480560" y="2331720"/>
            <a:ext cx="6766560" cy="274320"/>
          </a:xfrm>
          <a:prstGeom prst="roundRect">
            <a:avLst>
              <a:gd name="adj" fmla="val 50000"/>
            </a:avLst>
          </a:prstGeom>
          <a:solidFill>
            <a:srgbClr val="1E2542"/>
          </a:solidFill>
          <a:ln w="12700">
            <a:solidFill>
              <a:srgbClr val="DCE4FF">
                <a:alpha val="30000"/>
              </a:srgbClr>
            </a:solidFill>
            <a:prstDash val="solid"/>
          </a:ln>
        </p:spPr>
      </p:sp>
      <p:sp>
        <p:nvSpPr>
          <p:cNvPr id="8" name="Meter fill"/>
          <p:cNvSpPr/>
          <p:nvPr/>
        </p:nvSpPr>
        <p:spPr>
          <a:xfrm>
            <a:off x="4480560" y="2331720"/>
            <a:ext cx="3408655" cy="274320"/>
          </a:xfrm>
          <a:prstGeom prst="roundRect">
            <a:avLst>
              <a:gd name="adj" fmla="val 50000"/>
            </a:avLst>
          </a:prstGeom>
          <a:solidFill>
            <a:srgbClr val="E0212F"/>
          </a:solidFill>
          <a:ln/>
        </p:spPr>
      </p:sp>
      <p:pic>
        <p:nvPicPr>
          <p:cNvPr id="9" name="Orb" descr="white glass orb">    </p:cNvPr>
          <p:cNvPicPr>
            <a:picLocks noChangeAspect="1"/>
          </p:cNvPicPr>
          <p:nvPr/>
        </p:nvPicPr>
        <p:blipFill>
          <a:blip r:embed="rId2"/>
          <a:stretch>
            <a:fillRect/>
          </a:stretch>
        </p:blipFill>
        <p:spPr>
          <a:xfrm>
            <a:off x="7578319" y="2157984"/>
            <a:ext cx="621792" cy="621792"/>
          </a:xfrm>
          <a:prstGeom prst="rect">
            <a:avLst/>
          </a:prstGeom>
        </p:spPr>
      </p:pic>
      <p:sp>
        <p:nvSpPr>
          <p:cNvPr id="10" name="Text 6"/>
          <p:cNvSpPr txBox="1"/>
          <p:nvPr/>
        </p:nvSpPr>
        <p:spPr>
          <a:xfrm>
            <a:off x="4297680" y="2788920"/>
            <a:ext cx="365760" cy="274320"/>
          </a:xfrm>
          <a:prstGeom prst="rect">
            <a:avLst/>
          </a:prstGeom>
          <a:noFill/>
          <a:ln/>
        </p:spPr>
        <p:txBody>
          <a:bodyPr wrap="square" lIns="0" tIns="0" rIns="0" bIns="0" rtlCol="0" anchor="t"/>
          <a:lstStyle/>
          <a:p>
            <a:pPr algn="ctr" indent="0" marL="0">
              <a:buNone/>
            </a:pPr>
            <a:r>
              <a:rPr lang="en-US" sz="1300" dirty="0">
                <a:solidFill>
                  <a:srgbClr val="A9B4D6"/>
                </a:solidFill>
                <a:latin typeface="Courier New" pitchFamily="34" charset="0"/>
                <a:ea typeface="Courier New" pitchFamily="34" charset="-122"/>
                <a:cs typeface="Courier New" pitchFamily="34" charset="-120"/>
              </a:rPr>
              <a:t>1</a:t>
            </a:r>
            <a:endParaRPr lang="en-US" sz="1300" dirty="0"/>
          </a:p>
        </p:txBody>
      </p:sp>
      <p:sp>
        <p:nvSpPr>
          <p:cNvPr id="11" name="Text 7"/>
          <p:cNvSpPr txBox="1"/>
          <p:nvPr/>
        </p:nvSpPr>
        <p:spPr>
          <a:xfrm>
            <a:off x="5143500" y="2788920"/>
            <a:ext cx="365760" cy="274320"/>
          </a:xfrm>
          <a:prstGeom prst="rect">
            <a:avLst/>
          </a:prstGeom>
          <a:noFill/>
          <a:ln/>
        </p:spPr>
        <p:txBody>
          <a:bodyPr wrap="square" lIns="0" tIns="0" rIns="0" bIns="0" rtlCol="0" anchor="t"/>
          <a:lstStyle/>
          <a:p>
            <a:pPr algn="ctr" indent="0" marL="0">
              <a:buNone/>
            </a:pPr>
            <a:r>
              <a:rPr lang="en-US" sz="1300" dirty="0">
                <a:solidFill>
                  <a:srgbClr val="A9B4D6"/>
                </a:solidFill>
                <a:latin typeface="Courier New" pitchFamily="34" charset="0"/>
                <a:ea typeface="Courier New" pitchFamily="34" charset="-122"/>
                <a:cs typeface="Courier New" pitchFamily="34" charset="-120"/>
              </a:rPr>
              <a:t>2</a:t>
            </a:r>
            <a:endParaRPr lang="en-US" sz="1300" dirty="0"/>
          </a:p>
        </p:txBody>
      </p:sp>
      <p:sp>
        <p:nvSpPr>
          <p:cNvPr id="12" name="Text 8"/>
          <p:cNvSpPr txBox="1"/>
          <p:nvPr/>
        </p:nvSpPr>
        <p:spPr>
          <a:xfrm>
            <a:off x="5989320" y="2788920"/>
            <a:ext cx="365760" cy="274320"/>
          </a:xfrm>
          <a:prstGeom prst="rect">
            <a:avLst/>
          </a:prstGeom>
          <a:noFill/>
          <a:ln/>
        </p:spPr>
        <p:txBody>
          <a:bodyPr wrap="square" lIns="0" tIns="0" rIns="0" bIns="0" rtlCol="0" anchor="t"/>
          <a:lstStyle/>
          <a:p>
            <a:pPr algn="ctr" indent="0" marL="0">
              <a:buNone/>
            </a:pPr>
            <a:r>
              <a:rPr lang="en-US" sz="1300" dirty="0">
                <a:solidFill>
                  <a:srgbClr val="A9B4D6"/>
                </a:solidFill>
                <a:latin typeface="Courier New" pitchFamily="34" charset="0"/>
                <a:ea typeface="Courier New" pitchFamily="34" charset="-122"/>
                <a:cs typeface="Courier New" pitchFamily="34" charset="-120"/>
              </a:rPr>
              <a:t>3</a:t>
            </a:r>
            <a:endParaRPr lang="en-US" sz="1300" dirty="0"/>
          </a:p>
        </p:txBody>
      </p:sp>
      <p:sp>
        <p:nvSpPr>
          <p:cNvPr id="13" name="Text 9"/>
          <p:cNvSpPr txBox="1"/>
          <p:nvPr/>
        </p:nvSpPr>
        <p:spPr>
          <a:xfrm>
            <a:off x="6835140" y="2788920"/>
            <a:ext cx="365760" cy="274320"/>
          </a:xfrm>
          <a:prstGeom prst="rect">
            <a:avLst/>
          </a:prstGeom>
          <a:noFill/>
          <a:ln/>
        </p:spPr>
        <p:txBody>
          <a:bodyPr wrap="square" lIns="0" tIns="0" rIns="0" bIns="0" rtlCol="0" anchor="t"/>
          <a:lstStyle/>
          <a:p>
            <a:pPr algn="ctr" indent="0" marL="0">
              <a:buNone/>
            </a:pPr>
            <a:r>
              <a:rPr lang="en-US" sz="1300" dirty="0">
                <a:solidFill>
                  <a:srgbClr val="A9B4D6"/>
                </a:solidFill>
                <a:latin typeface="Courier New" pitchFamily="34" charset="0"/>
                <a:ea typeface="Courier New" pitchFamily="34" charset="-122"/>
                <a:cs typeface="Courier New" pitchFamily="34" charset="-120"/>
              </a:rPr>
              <a:t>4</a:t>
            </a:r>
            <a:endParaRPr lang="en-US" sz="1300" dirty="0"/>
          </a:p>
        </p:txBody>
      </p:sp>
      <p:sp>
        <p:nvSpPr>
          <p:cNvPr id="14" name="Text 10"/>
          <p:cNvSpPr txBox="1"/>
          <p:nvPr/>
        </p:nvSpPr>
        <p:spPr>
          <a:xfrm>
            <a:off x="7680960" y="2788920"/>
            <a:ext cx="365760" cy="274320"/>
          </a:xfrm>
          <a:prstGeom prst="rect">
            <a:avLst/>
          </a:prstGeom>
          <a:noFill/>
          <a:ln/>
        </p:spPr>
        <p:txBody>
          <a:bodyPr wrap="square" lIns="0" tIns="0" rIns="0" bIns="0" rtlCol="0" anchor="t"/>
          <a:lstStyle/>
          <a:p>
            <a:pPr algn="ctr" indent="0" marL="0">
              <a:buNone/>
            </a:pPr>
            <a:r>
              <a:rPr lang="en-US" sz="1300" dirty="0">
                <a:solidFill>
                  <a:srgbClr val="A9B4D6"/>
                </a:solidFill>
                <a:latin typeface="Courier New" pitchFamily="34" charset="0"/>
                <a:ea typeface="Courier New" pitchFamily="34" charset="-122"/>
                <a:cs typeface="Courier New" pitchFamily="34" charset="-120"/>
              </a:rPr>
              <a:t>5</a:t>
            </a:r>
            <a:endParaRPr lang="en-US" sz="1300" dirty="0"/>
          </a:p>
        </p:txBody>
      </p:sp>
      <p:sp>
        <p:nvSpPr>
          <p:cNvPr id="15" name="Text 11"/>
          <p:cNvSpPr txBox="1"/>
          <p:nvPr/>
        </p:nvSpPr>
        <p:spPr>
          <a:xfrm>
            <a:off x="8526780" y="2788920"/>
            <a:ext cx="365760" cy="274320"/>
          </a:xfrm>
          <a:prstGeom prst="rect">
            <a:avLst/>
          </a:prstGeom>
          <a:noFill/>
          <a:ln/>
        </p:spPr>
        <p:txBody>
          <a:bodyPr wrap="square" lIns="0" tIns="0" rIns="0" bIns="0" rtlCol="0" anchor="t"/>
          <a:lstStyle/>
          <a:p>
            <a:pPr algn="ctr" indent="0" marL="0">
              <a:buNone/>
            </a:pPr>
            <a:r>
              <a:rPr lang="en-US" sz="1300" dirty="0">
                <a:solidFill>
                  <a:srgbClr val="A9B4D6"/>
                </a:solidFill>
                <a:latin typeface="Courier New" pitchFamily="34" charset="0"/>
                <a:ea typeface="Courier New" pitchFamily="34" charset="-122"/>
                <a:cs typeface="Courier New" pitchFamily="34" charset="-120"/>
              </a:rPr>
              <a:t>6</a:t>
            </a:r>
            <a:endParaRPr lang="en-US" sz="1300" dirty="0"/>
          </a:p>
        </p:txBody>
      </p:sp>
      <p:sp>
        <p:nvSpPr>
          <p:cNvPr id="16" name="Text 12"/>
          <p:cNvSpPr txBox="1"/>
          <p:nvPr/>
        </p:nvSpPr>
        <p:spPr>
          <a:xfrm>
            <a:off x="9372600" y="2788920"/>
            <a:ext cx="365760" cy="274320"/>
          </a:xfrm>
          <a:prstGeom prst="rect">
            <a:avLst/>
          </a:prstGeom>
          <a:noFill/>
          <a:ln/>
        </p:spPr>
        <p:txBody>
          <a:bodyPr wrap="square" lIns="0" tIns="0" rIns="0" bIns="0" rtlCol="0" anchor="t"/>
          <a:lstStyle/>
          <a:p>
            <a:pPr algn="ctr" indent="0" marL="0">
              <a:buNone/>
            </a:pPr>
            <a:r>
              <a:rPr lang="en-US" sz="1300" dirty="0">
                <a:solidFill>
                  <a:srgbClr val="A9B4D6"/>
                </a:solidFill>
                <a:latin typeface="Courier New" pitchFamily="34" charset="0"/>
                <a:ea typeface="Courier New" pitchFamily="34" charset="-122"/>
                <a:cs typeface="Courier New" pitchFamily="34" charset="-120"/>
              </a:rPr>
              <a:t>7</a:t>
            </a:r>
            <a:endParaRPr lang="en-US" sz="1300" dirty="0"/>
          </a:p>
        </p:txBody>
      </p:sp>
      <p:sp>
        <p:nvSpPr>
          <p:cNvPr id="17" name="Text 13"/>
          <p:cNvSpPr txBox="1"/>
          <p:nvPr/>
        </p:nvSpPr>
        <p:spPr>
          <a:xfrm>
            <a:off x="10218420" y="2788920"/>
            <a:ext cx="365760" cy="274320"/>
          </a:xfrm>
          <a:prstGeom prst="rect">
            <a:avLst/>
          </a:prstGeom>
          <a:noFill/>
          <a:ln/>
        </p:spPr>
        <p:txBody>
          <a:bodyPr wrap="square" lIns="0" tIns="0" rIns="0" bIns="0" rtlCol="0" anchor="t"/>
          <a:lstStyle/>
          <a:p>
            <a:pPr algn="ctr" indent="0" marL="0">
              <a:buNone/>
            </a:pPr>
            <a:r>
              <a:rPr lang="en-US" sz="1300" dirty="0">
                <a:solidFill>
                  <a:srgbClr val="A9B4D6"/>
                </a:solidFill>
                <a:latin typeface="Courier New" pitchFamily="34" charset="0"/>
                <a:ea typeface="Courier New" pitchFamily="34" charset="-122"/>
                <a:cs typeface="Courier New" pitchFamily="34" charset="-120"/>
              </a:rPr>
              <a:t>8</a:t>
            </a:r>
            <a:endParaRPr lang="en-US" sz="1300" dirty="0"/>
          </a:p>
        </p:txBody>
      </p:sp>
      <p:sp>
        <p:nvSpPr>
          <p:cNvPr id="18" name="Text 14"/>
          <p:cNvSpPr txBox="1"/>
          <p:nvPr/>
        </p:nvSpPr>
        <p:spPr>
          <a:xfrm>
            <a:off x="11064240" y="2788920"/>
            <a:ext cx="365760" cy="274320"/>
          </a:xfrm>
          <a:prstGeom prst="rect">
            <a:avLst/>
          </a:prstGeom>
          <a:noFill/>
          <a:ln/>
        </p:spPr>
        <p:txBody>
          <a:bodyPr wrap="square" lIns="0" tIns="0" rIns="0" bIns="0" rtlCol="0" anchor="t"/>
          <a:lstStyle/>
          <a:p>
            <a:pPr algn="ctr" indent="0" marL="0">
              <a:buNone/>
            </a:pPr>
            <a:r>
              <a:rPr lang="en-US" sz="1300" dirty="0">
                <a:solidFill>
                  <a:srgbClr val="A9B4D6"/>
                </a:solidFill>
                <a:latin typeface="Courier New" pitchFamily="34" charset="0"/>
                <a:ea typeface="Courier New" pitchFamily="34" charset="-122"/>
                <a:cs typeface="Courier New" pitchFamily="34" charset="-120"/>
              </a:rPr>
              <a:t>9</a:t>
            </a:r>
            <a:endParaRPr lang="en-US" sz="1300" dirty="0"/>
          </a:p>
        </p:txBody>
      </p:sp>
      <p:sp>
        <p:nvSpPr>
          <p:cNvPr id="19" name="Text 15"/>
          <p:cNvSpPr txBox="1"/>
          <p:nvPr/>
        </p:nvSpPr>
        <p:spPr>
          <a:xfrm>
            <a:off x="4480560" y="3383280"/>
            <a:ext cx="6766560" cy="640080"/>
          </a:xfrm>
          <a:prstGeom prst="rect">
            <a:avLst/>
          </a:prstGeom>
          <a:noFill/>
          <a:ln/>
        </p:spPr>
        <p:txBody>
          <a:bodyPr wrap="square" lIns="0" tIns="0" rIns="0" bIns="0" rtlCol="0" anchor="t"/>
          <a:lstStyle/>
          <a:p>
            <a:pPr indent="0" marL="0">
              <a:buNone/>
            </a:pPr>
            <a:r>
              <a:rPr lang="en-US" sz="1600" dirty="0">
                <a:solidFill>
                  <a:schemeClr val="bg1"/>
                </a:solidFill>
              </a:rPr>
              <a:t>The average sits almost exactly in the middle of the 1 to 9 scale, at about 50% of the range.</a:t>
            </a:r>
            <a:endParaRPr lang="en-US" sz="1600" dirty="0"/>
          </a:p>
        </p:txBody>
      </p:sp>
      <p:pic>
        <p:nvPicPr>
          <p:cNvPr id="20" name="Glass panel" descr="Glass panel">    </p:cNvPr>
          <p:cNvPicPr>
            <a:picLocks noChangeAspect="1"/>
          </p:cNvPicPr>
          <p:nvPr/>
        </p:nvPicPr>
        <p:blipFill>
          <a:blip r:embed="rId3"/>
          <a:stretch>
            <a:fillRect/>
          </a:stretch>
        </p:blipFill>
        <p:spPr>
          <a:xfrm>
            <a:off x="274320" y="4389120"/>
            <a:ext cx="4178808" cy="1828800"/>
          </a:xfrm>
          <a:prstGeom prst="rect">
            <a:avLst/>
          </a:prstGeom>
        </p:spPr>
      </p:pic>
      <p:sp>
        <p:nvSpPr>
          <p:cNvPr id="21" name="Text 16"/>
          <p:cNvSpPr txBox="1"/>
          <p:nvPr/>
        </p:nvSpPr>
        <p:spPr>
          <a:xfrm>
            <a:off x="914400" y="4846320"/>
            <a:ext cx="2286000" cy="274320"/>
          </a:xfrm>
          <a:prstGeom prst="rect">
            <a:avLst/>
          </a:prstGeom>
          <a:noFill/>
          <a:ln/>
        </p:spPr>
        <p:txBody>
          <a:bodyPr wrap="square" lIns="0" tIns="0" rIns="0" bIns="0" rtlCol="0" anchor="t"/>
          <a:lstStyle/>
          <a:p>
            <a:pPr indent="0" marL="0">
              <a:buNone/>
            </a:pPr>
            <a:r>
              <a:rPr lang="en-US" sz="1200" b="1" spc="300" kern="0" dirty="0">
                <a:solidFill>
                  <a:srgbClr val="A9B4D6"/>
                </a:solidFill>
                <a:latin typeface="Courier New" pitchFamily="34" charset="0"/>
                <a:ea typeface="Courier New" pitchFamily="34" charset="-122"/>
                <a:cs typeface="Courier New" pitchFamily="34" charset="-120"/>
              </a:rPr>
              <a:t>MIN</a:t>
            </a:r>
            <a:endParaRPr lang="en-US" sz="1200" dirty="0"/>
          </a:p>
        </p:txBody>
      </p:sp>
      <p:sp>
        <p:nvSpPr>
          <p:cNvPr id="22" name="Text 17"/>
          <p:cNvSpPr txBox="1"/>
          <p:nvPr/>
        </p:nvSpPr>
        <p:spPr>
          <a:xfrm>
            <a:off x="914400" y="5166360"/>
            <a:ext cx="2743200" cy="640080"/>
          </a:xfrm>
          <a:prstGeom prst="rect">
            <a:avLst/>
          </a:prstGeom>
          <a:noFill/>
          <a:ln/>
        </p:spPr>
        <p:txBody>
          <a:bodyPr wrap="square" lIns="0" tIns="0" rIns="0" bIns="0" rtlCol="0" anchor="ctr"/>
          <a:lstStyle/>
          <a:p>
            <a:pPr indent="0" marL="0">
              <a:buNone/>
            </a:pPr>
            <a:r>
              <a:rPr lang="en-US" sz="3600" b="1" dirty="0">
                <a:solidFill>
                  <a:srgbClr val="FF5A67"/>
                </a:solidFill>
                <a:latin typeface="Courier New" pitchFamily="34" charset="0"/>
                <a:ea typeface="Courier New" pitchFamily="34" charset="-122"/>
                <a:cs typeface="Courier New" pitchFamily="34" charset="-120"/>
              </a:rPr>
              <a:t>1</a:t>
            </a:r>
            <a:endParaRPr lang="en-US" sz="3600" dirty="0"/>
          </a:p>
        </p:txBody>
      </p:sp>
      <p:pic>
        <p:nvPicPr>
          <p:cNvPr id="23" name="Glass panel" descr="Glass panel">    </p:cNvPr>
          <p:cNvPicPr>
            <a:picLocks noChangeAspect="1"/>
          </p:cNvPicPr>
          <p:nvPr/>
        </p:nvPicPr>
        <p:blipFill>
          <a:blip r:embed="rId4"/>
          <a:stretch>
            <a:fillRect/>
          </a:stretch>
        </p:blipFill>
        <p:spPr>
          <a:xfrm>
            <a:off x="3995928" y="4389120"/>
            <a:ext cx="4178808" cy="1828800"/>
          </a:xfrm>
          <a:prstGeom prst="rect">
            <a:avLst/>
          </a:prstGeom>
        </p:spPr>
      </p:pic>
      <p:sp>
        <p:nvSpPr>
          <p:cNvPr id="24" name="Text 18"/>
          <p:cNvSpPr txBox="1"/>
          <p:nvPr/>
        </p:nvSpPr>
        <p:spPr>
          <a:xfrm>
            <a:off x="4636008" y="4846320"/>
            <a:ext cx="2286000" cy="274320"/>
          </a:xfrm>
          <a:prstGeom prst="rect">
            <a:avLst/>
          </a:prstGeom>
          <a:noFill/>
          <a:ln/>
        </p:spPr>
        <p:txBody>
          <a:bodyPr wrap="square" lIns="0" tIns="0" rIns="0" bIns="0" rtlCol="0" anchor="t"/>
          <a:lstStyle/>
          <a:p>
            <a:pPr indent="0" marL="0">
              <a:buNone/>
            </a:pPr>
            <a:r>
              <a:rPr lang="en-US" sz="1200" b="1" spc="300" kern="0" dirty="0">
                <a:solidFill>
                  <a:srgbClr val="A9B4D6"/>
                </a:solidFill>
                <a:latin typeface="Courier New" pitchFamily="34" charset="0"/>
                <a:ea typeface="Courier New" pitchFamily="34" charset="-122"/>
                <a:cs typeface="Courier New" pitchFamily="34" charset="-120"/>
              </a:rPr>
              <a:t>AVERAGE</a:t>
            </a:r>
            <a:endParaRPr lang="en-US" sz="1200" dirty="0"/>
          </a:p>
        </p:txBody>
      </p:sp>
      <p:sp>
        <p:nvSpPr>
          <p:cNvPr id="25" name="Text 19"/>
          <p:cNvSpPr txBox="1"/>
          <p:nvPr/>
        </p:nvSpPr>
        <p:spPr>
          <a:xfrm>
            <a:off x="4636008" y="5166360"/>
            <a:ext cx="2743200" cy="640080"/>
          </a:xfrm>
          <a:prstGeom prst="rect">
            <a:avLst/>
          </a:prstGeom>
          <a:noFill/>
          <a:ln/>
        </p:spPr>
        <p:txBody>
          <a:bodyPr wrap="square" lIns="0" tIns="0" rIns="0" bIns="0" rtlCol="0" anchor="ctr"/>
          <a:lstStyle/>
          <a:p>
            <a:pPr indent="0" marL="0">
              <a:buNone/>
            </a:pPr>
            <a:r>
              <a:rPr lang="en-US" sz="3600" b="1" dirty="0">
                <a:solidFill>
                  <a:srgbClr val="6FB1FF"/>
                </a:solidFill>
                <a:latin typeface="Courier New" pitchFamily="34" charset="0"/>
                <a:ea typeface="Courier New" pitchFamily="34" charset="-122"/>
                <a:cs typeface="Courier New" pitchFamily="34" charset="-120"/>
              </a:rPr>
              <a:t>5.03</a:t>
            </a:r>
            <a:endParaRPr lang="en-US" sz="3600" dirty="0"/>
          </a:p>
        </p:txBody>
      </p:sp>
      <p:pic>
        <p:nvPicPr>
          <p:cNvPr id="26" name="Glass panel" descr="Glass panel">    </p:cNvPr>
          <p:cNvPicPr>
            <a:picLocks noChangeAspect="1"/>
          </p:cNvPicPr>
          <p:nvPr/>
        </p:nvPicPr>
        <p:blipFill>
          <a:blip r:embed="rId5"/>
          <a:stretch>
            <a:fillRect/>
          </a:stretch>
        </p:blipFill>
        <p:spPr>
          <a:xfrm>
            <a:off x="7708392" y="4389120"/>
            <a:ext cx="4178808" cy="1828800"/>
          </a:xfrm>
          <a:prstGeom prst="rect">
            <a:avLst/>
          </a:prstGeom>
        </p:spPr>
      </p:pic>
      <p:sp>
        <p:nvSpPr>
          <p:cNvPr id="27" name="Text 20"/>
          <p:cNvSpPr txBox="1"/>
          <p:nvPr/>
        </p:nvSpPr>
        <p:spPr>
          <a:xfrm>
            <a:off x="8348472" y="4846320"/>
            <a:ext cx="2286000" cy="274320"/>
          </a:xfrm>
          <a:prstGeom prst="rect">
            <a:avLst/>
          </a:prstGeom>
          <a:noFill/>
          <a:ln/>
        </p:spPr>
        <p:txBody>
          <a:bodyPr wrap="square" lIns="0" tIns="0" rIns="0" bIns="0" rtlCol="0" anchor="t"/>
          <a:lstStyle/>
          <a:p>
            <a:pPr indent="0" marL="0">
              <a:buNone/>
            </a:pPr>
            <a:r>
              <a:rPr lang="en-US" sz="1200" b="1" spc="300" kern="0" dirty="0">
                <a:solidFill>
                  <a:srgbClr val="A9B4D6"/>
                </a:solidFill>
                <a:latin typeface="Courier New" pitchFamily="34" charset="0"/>
                <a:ea typeface="Courier New" pitchFamily="34" charset="-122"/>
                <a:cs typeface="Courier New" pitchFamily="34" charset="-120"/>
              </a:rPr>
              <a:t>MAX</a:t>
            </a:r>
            <a:endParaRPr lang="en-US" sz="1200" dirty="0"/>
          </a:p>
        </p:txBody>
      </p:sp>
      <p:sp>
        <p:nvSpPr>
          <p:cNvPr id="28" name="Text 21"/>
          <p:cNvSpPr txBox="1"/>
          <p:nvPr/>
        </p:nvSpPr>
        <p:spPr>
          <a:xfrm>
            <a:off x="8348472" y="5166360"/>
            <a:ext cx="2743200" cy="640080"/>
          </a:xfrm>
          <a:prstGeom prst="rect">
            <a:avLst/>
          </a:prstGeom>
          <a:noFill/>
          <a:ln/>
        </p:spPr>
        <p:txBody>
          <a:bodyPr wrap="square" lIns="0" tIns="0" rIns="0" bIns="0" rtlCol="0" anchor="ctr"/>
          <a:lstStyle/>
          <a:p>
            <a:pPr indent="0" marL="0">
              <a:buNone/>
            </a:pPr>
            <a:r>
              <a:rPr lang="en-US" sz="3600" b="1" dirty="0">
                <a:solidFill>
                  <a:srgbClr val="FF5A67"/>
                </a:solidFill>
                <a:latin typeface="Courier New" pitchFamily="34" charset="0"/>
                <a:ea typeface="Courier New" pitchFamily="34" charset="-122"/>
                <a:cs typeface="Courier New" pitchFamily="34" charset="-120"/>
              </a:rPr>
              <a:t>9</a:t>
            </a:r>
            <a:endParaRPr lang="en-US" sz="36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FF5A67"/>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indent="0" marL="0">
              <a:buNone/>
            </a:pPr>
            <a:r>
              <a:rPr lang="en-US" sz="1200" b="1" spc="300" kern="0" dirty="0">
                <a:solidFill>
                  <a:srgbClr val="FF5A67"/>
                </a:solidFill>
                <a:latin typeface="Courier New" pitchFamily="34" charset="0"/>
                <a:ea typeface="Courier New" pitchFamily="34" charset="-122"/>
                <a:cs typeface="Courier New" pitchFamily="34" charset="-120"/>
              </a:rPr>
              <a:t>// 04  AUDIENCE</a:t>
            </a:r>
            <a:endParaRPr lang="en-US" sz="1200" dirty="0"/>
          </a:p>
        </p:txBody>
      </p:sp>
      <p:sp>
        <p:nvSpPr>
          <p:cNvPr id="3" name="Text 1"/>
          <p:cNvSpPr/>
          <p:nvPr>
            <p:ph idx="101" type="title" hasCustomPrompt="1"/>
          </p:nvPr>
        </p:nvSpPr>
        <p:spPr>
          <a:xfrm>
            <a:off x="548640" y="530352"/>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rPr>
              <a:t>Who are the users?</a:t>
            </a:r>
            <a:endParaRPr lang="en-US" sz="3400" dirty="0"/>
          </a:p>
        </p:txBody>
      </p:sp>
      <p:pic>
        <p:nvPicPr>
          <p:cNvPr id="4" name="Glass panel" descr="Glass panel">    </p:cNvPr>
          <p:cNvPicPr>
            <a:picLocks noChangeAspect="1"/>
          </p:cNvPicPr>
          <p:nvPr/>
        </p:nvPicPr>
        <p:blipFill>
          <a:blip r:embed="rId1"/>
          <a:stretch>
            <a:fillRect/>
          </a:stretch>
        </p:blipFill>
        <p:spPr>
          <a:xfrm>
            <a:off x="274320" y="1188720"/>
            <a:ext cx="5943600" cy="5120640"/>
          </a:xfrm>
          <a:prstGeom prst="rect">
            <a:avLst/>
          </a:prstGeom>
        </p:spPr>
      </p:pic>
      <p:graphicFrame>
        <p:nvGraphicFramePr>
          <p:cNvPr id="5" name="Chart 0" descr=""/>
          <p:cNvGraphicFramePr/>
          <p:nvPr/>
        </p:nvGraphicFramePr>
        <p:xfrm>
          <a:off x="822960" y="1600200"/>
          <a:ext cx="4846320" cy="315468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2331720" y="2743200"/>
            <a:ext cx="1828800" cy="640080"/>
          </a:xfrm>
          <a:prstGeom prst="rect">
            <a:avLst/>
          </a:prstGeom>
          <a:noFill/>
          <a:ln/>
        </p:spPr>
        <p:txBody>
          <a:bodyPr wrap="square" lIns="0" tIns="0" rIns="0" bIns="0" rtlCol="0" anchor="ctr"/>
          <a:lstStyle/>
          <a:p>
            <a:pPr algn="ctr" indent="0" marL="0">
              <a:buNone/>
            </a:pPr>
            <a:r>
              <a:rPr lang="en-US" sz="3600" b="1" dirty="0">
                <a:solidFill>
                  <a:schemeClr val="bg1"/>
                </a:solidFill>
                <a:latin typeface="Courier New" pitchFamily="34" charset="0"/>
                <a:ea typeface="Courier New" pitchFamily="34" charset="-122"/>
                <a:cs typeface="Courier New" pitchFamily="34" charset="-120"/>
              </a:rPr>
              <a:t>1K</a:t>
            </a:r>
            <a:endParaRPr lang="en-US" sz="3600" dirty="0"/>
          </a:p>
        </p:txBody>
      </p:sp>
      <p:sp>
        <p:nvSpPr>
          <p:cNvPr id="7" name="Text 3"/>
          <p:cNvSpPr txBox="1"/>
          <p:nvPr/>
        </p:nvSpPr>
        <p:spPr>
          <a:xfrm>
            <a:off x="2331720" y="3337560"/>
            <a:ext cx="1828800" cy="274320"/>
          </a:xfrm>
          <a:prstGeom prst="rect">
            <a:avLst/>
          </a:prstGeom>
          <a:noFill/>
          <a:ln/>
        </p:spPr>
        <p:txBody>
          <a:bodyPr wrap="square" lIns="0" tIns="0" rIns="0" bIns="0" rtlCol="0" anchor="t"/>
          <a:lstStyle/>
          <a:p>
            <a:pPr algn="ctr" indent="0" marL="0">
              <a:buNone/>
            </a:pPr>
            <a:r>
              <a:rPr lang="en-US" sz="1100" dirty="0">
                <a:solidFill>
                  <a:srgbClr val="A9B4D6"/>
                </a:solidFill>
                <a:latin typeface="Courier New" pitchFamily="34" charset="0"/>
                <a:ea typeface="Courier New" pitchFamily="34" charset="-122"/>
                <a:cs typeface="Courier New" pitchFamily="34" charset="-120"/>
              </a:rPr>
              <a:t>USERS</a:t>
            </a:r>
            <a:endParaRPr lang="en-US" sz="1100" dirty="0"/>
          </a:p>
        </p:txBody>
      </p:sp>
      <p:sp>
        <p:nvSpPr>
          <p:cNvPr id="8" name="Legend dot"/>
          <p:cNvSpPr/>
          <p:nvPr/>
        </p:nvSpPr>
        <p:spPr>
          <a:xfrm>
            <a:off x="868680" y="4873752"/>
            <a:ext cx="146304" cy="146304"/>
          </a:xfrm>
          <a:prstGeom prst="ellipse">
            <a:avLst/>
          </a:prstGeom>
          <a:solidFill>
            <a:srgbClr val="E0212F"/>
          </a:solidFill>
          <a:ln/>
        </p:spPr>
      </p:sp>
      <p:sp>
        <p:nvSpPr>
          <p:cNvPr id="9" name="Text 5"/>
          <p:cNvSpPr txBox="1"/>
          <p:nvPr/>
        </p:nvSpPr>
        <p:spPr>
          <a:xfrm>
            <a:off x="1088136" y="4800600"/>
            <a:ext cx="1371600" cy="292608"/>
          </a:xfrm>
          <a:prstGeom prst="rect">
            <a:avLst/>
          </a:prstGeom>
          <a:noFill/>
          <a:ln/>
        </p:spPr>
        <p:txBody>
          <a:bodyPr wrap="square" lIns="0" tIns="0" rIns="0" bIns="0" rtlCol="0" anchor="ctr"/>
          <a:lstStyle/>
          <a:p>
            <a:pPr indent="0" marL="0">
              <a:buNone/>
            </a:pPr>
            <a:r>
              <a:rPr lang="en-US" sz="1200" dirty="0">
                <a:solidFill>
                  <a:schemeClr val="bg1"/>
                </a:solidFill>
              </a:rPr>
              <a:t>Rural 34%</a:t>
            </a:r>
            <a:endParaRPr lang="en-US" sz="1200" dirty="0"/>
          </a:p>
        </p:txBody>
      </p:sp>
      <p:sp>
        <p:nvSpPr>
          <p:cNvPr id="10" name="Legend dot"/>
          <p:cNvSpPr/>
          <p:nvPr/>
        </p:nvSpPr>
        <p:spPr>
          <a:xfrm>
            <a:off x="2468880" y="4873752"/>
            <a:ext cx="146304" cy="146304"/>
          </a:xfrm>
          <a:prstGeom prst="ellipse">
            <a:avLst/>
          </a:prstGeom>
          <a:solidFill>
            <a:srgbClr val="F4F6FF"/>
          </a:solidFill>
          <a:ln/>
        </p:spPr>
      </p:sp>
      <p:sp>
        <p:nvSpPr>
          <p:cNvPr id="11" name="Text 7"/>
          <p:cNvSpPr txBox="1"/>
          <p:nvPr/>
        </p:nvSpPr>
        <p:spPr>
          <a:xfrm>
            <a:off x="2688336" y="4800600"/>
            <a:ext cx="1371600" cy="292608"/>
          </a:xfrm>
          <a:prstGeom prst="rect">
            <a:avLst/>
          </a:prstGeom>
          <a:noFill/>
          <a:ln/>
        </p:spPr>
        <p:txBody>
          <a:bodyPr wrap="square" lIns="0" tIns="0" rIns="0" bIns="0" rtlCol="0" anchor="ctr"/>
          <a:lstStyle/>
          <a:p>
            <a:pPr indent="0" marL="0">
              <a:buNone/>
            </a:pPr>
            <a:r>
              <a:rPr lang="en-US" sz="1200" dirty="0">
                <a:solidFill>
                  <a:schemeClr val="bg1"/>
                </a:solidFill>
              </a:rPr>
              <a:t>Sub_Urban 33.5%</a:t>
            </a:r>
            <a:endParaRPr lang="en-US" sz="1200" dirty="0"/>
          </a:p>
        </p:txBody>
      </p:sp>
      <p:sp>
        <p:nvSpPr>
          <p:cNvPr id="12" name="Legend dot"/>
          <p:cNvSpPr/>
          <p:nvPr/>
        </p:nvSpPr>
        <p:spPr>
          <a:xfrm>
            <a:off x="4069080" y="4873752"/>
            <a:ext cx="146304" cy="146304"/>
          </a:xfrm>
          <a:prstGeom prst="ellipse">
            <a:avLst/>
          </a:prstGeom>
          <a:solidFill>
            <a:srgbClr val="2F86FF"/>
          </a:solidFill>
          <a:ln/>
        </p:spPr>
      </p:sp>
      <p:sp>
        <p:nvSpPr>
          <p:cNvPr id="13" name="Text 9"/>
          <p:cNvSpPr txBox="1"/>
          <p:nvPr/>
        </p:nvSpPr>
        <p:spPr>
          <a:xfrm>
            <a:off x="4288536" y="4800600"/>
            <a:ext cx="1371600" cy="292608"/>
          </a:xfrm>
          <a:prstGeom prst="rect">
            <a:avLst/>
          </a:prstGeom>
          <a:noFill/>
          <a:ln/>
        </p:spPr>
        <p:txBody>
          <a:bodyPr wrap="square" lIns="0" tIns="0" rIns="0" bIns="0" rtlCol="0" anchor="ctr"/>
          <a:lstStyle/>
          <a:p>
            <a:pPr indent="0" marL="0">
              <a:buNone/>
            </a:pPr>
            <a:r>
              <a:rPr lang="en-US" sz="1200" dirty="0">
                <a:solidFill>
                  <a:schemeClr val="bg1"/>
                </a:solidFill>
              </a:rPr>
              <a:t>Urban 32.5%</a:t>
            </a:r>
            <a:endParaRPr lang="en-US" sz="1200" dirty="0"/>
          </a:p>
        </p:txBody>
      </p:sp>
      <p:sp>
        <p:nvSpPr>
          <p:cNvPr id="14" name="Text 10"/>
          <p:cNvSpPr txBox="1"/>
          <p:nvPr/>
        </p:nvSpPr>
        <p:spPr>
          <a:xfrm>
            <a:off x="868680" y="5303520"/>
            <a:ext cx="4754880" cy="548640"/>
          </a:xfrm>
          <a:prstGeom prst="rect">
            <a:avLst/>
          </a:prstGeom>
          <a:noFill/>
          <a:ln/>
        </p:spPr>
        <p:txBody>
          <a:bodyPr wrap="square" lIns="0" tIns="0" rIns="0" bIns="0" rtlCol="0" anchor="t"/>
          <a:lstStyle/>
          <a:p>
            <a:pPr indent="0" marL="0">
              <a:buNone/>
            </a:pPr>
            <a:r>
              <a:rPr lang="en-US" sz="1400" dirty="0">
                <a:solidFill>
                  <a:srgbClr val="A9B4D6"/>
                </a:solidFill>
              </a:rPr>
              <a:t>Almost a perfect three-way split between rural, sub-urban and urban users.</a:t>
            </a:r>
            <a:endParaRPr lang="en-US" sz="1400" dirty="0"/>
          </a:p>
        </p:txBody>
      </p:sp>
      <p:pic>
        <p:nvPicPr>
          <p:cNvPr id="15" name="Glass panel" descr="Glass panel">    </p:cNvPr>
          <p:cNvPicPr>
            <a:picLocks noChangeAspect="1"/>
          </p:cNvPicPr>
          <p:nvPr/>
        </p:nvPicPr>
        <p:blipFill>
          <a:blip r:embed="rId3"/>
          <a:stretch>
            <a:fillRect/>
          </a:stretch>
        </p:blipFill>
        <p:spPr>
          <a:xfrm>
            <a:off x="5943600" y="1188720"/>
            <a:ext cx="5943600" cy="5120640"/>
          </a:xfrm>
          <a:prstGeom prst="rect">
            <a:avLst/>
          </a:prstGeom>
        </p:spPr>
      </p:pic>
      <p:graphicFrame>
        <p:nvGraphicFramePr>
          <p:cNvPr id="16" name="Chart 1" descr=""/>
          <p:cNvGraphicFramePr/>
          <p:nvPr/>
        </p:nvGraphicFramePr>
        <p:xfrm>
          <a:off x="6400800" y="1600200"/>
          <a:ext cx="5029200" cy="3520440"/>
        </p:xfrm>
        <a:graphic xmlns:a="http://schemas.openxmlformats.org/drawingml/2006/main">
          <a:graphicData uri="http://schemas.openxmlformats.org/drawingml/2006/chart">
            <c:chart xmlns:c="http://schemas.openxmlformats.org/drawingml/2006/chart" r:id="rId4"/>
          </a:graphicData>
        </a:graphic>
      </p:graphicFrame>
      <p:sp>
        <p:nvSpPr>
          <p:cNvPr id="17" name="Text 11"/>
          <p:cNvSpPr txBox="1"/>
          <p:nvPr/>
        </p:nvSpPr>
        <p:spPr>
          <a:xfrm>
            <a:off x="6537960" y="5212080"/>
            <a:ext cx="4846320" cy="640080"/>
          </a:xfrm>
          <a:prstGeom prst="rect">
            <a:avLst/>
          </a:prstGeom>
          <a:noFill/>
          <a:ln/>
        </p:spPr>
        <p:txBody>
          <a:bodyPr wrap="square" lIns="0" tIns="0" rIns="0" bIns="0" rtlCol="0" anchor="t"/>
          <a:lstStyle/>
          <a:p>
            <a:pPr indent="0" marL="0">
              <a:buNone/>
            </a:pPr>
            <a:r>
              <a:rPr lang="en-US" sz="1400" dirty="0">
                <a:solidFill>
                  <a:srgbClr val="A9B4D6"/>
                </a:solidFill>
              </a:rPr>
              <a:t>Gender mix per platform (approximate, read from the dashboard): no platform is dominated by one gender.</a:t>
            </a:r>
            <a:endParaRPr lang="en-US" sz="14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FF5A67"/>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indent="0" marL="0">
              <a:buNone/>
            </a:pPr>
            <a:r>
              <a:rPr lang="en-US" sz="1200" b="1" spc="300" kern="0" dirty="0">
                <a:solidFill>
                  <a:srgbClr val="FF5A67"/>
                </a:solidFill>
                <a:latin typeface="Courier New" pitchFamily="34" charset="0"/>
                <a:ea typeface="Courier New" pitchFamily="34" charset="-122"/>
                <a:cs typeface="Courier New" pitchFamily="34" charset="-120"/>
              </a:rPr>
              <a:t>// 05  PLATFORMS</a:t>
            </a:r>
            <a:endParaRPr lang="en-US" sz="1200" dirty="0"/>
          </a:p>
        </p:txBody>
      </p:sp>
      <p:sp>
        <p:nvSpPr>
          <p:cNvPr id="3" name="Text 1"/>
          <p:cNvSpPr/>
          <p:nvPr>
            <p:ph idx="101" type="title" hasCustomPrompt="1"/>
          </p:nvPr>
        </p:nvSpPr>
        <p:spPr>
          <a:xfrm>
            <a:off x="548640" y="530352"/>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rPr>
              <a:t>Instagram leads, but only by a small margin</a:t>
            </a:r>
            <a:endParaRPr lang="en-US" sz="3400" dirty="0"/>
          </a:p>
        </p:txBody>
      </p:sp>
      <p:pic>
        <p:nvPicPr>
          <p:cNvPr id="4" name="Glass panel" descr="Glass panel">    </p:cNvPr>
          <p:cNvPicPr>
            <a:picLocks noChangeAspect="1"/>
          </p:cNvPicPr>
          <p:nvPr/>
        </p:nvPicPr>
        <p:blipFill>
          <a:blip r:embed="rId1"/>
          <a:stretch>
            <a:fillRect/>
          </a:stretch>
        </p:blipFill>
        <p:spPr>
          <a:xfrm>
            <a:off x="274320" y="1188720"/>
            <a:ext cx="5989320" cy="5120640"/>
          </a:xfrm>
          <a:prstGeom prst="rect">
            <a:avLst/>
          </a:prstGeom>
        </p:spPr>
      </p:pic>
      <p:sp>
        <p:nvSpPr>
          <p:cNvPr id="5" name="Text 2"/>
          <p:cNvSpPr txBox="1"/>
          <p:nvPr/>
        </p:nvSpPr>
        <p:spPr>
          <a:xfrm>
            <a:off x="868680" y="1691640"/>
            <a:ext cx="4754880" cy="274320"/>
          </a:xfrm>
          <a:prstGeom prst="rect">
            <a:avLst/>
          </a:prstGeom>
          <a:noFill/>
          <a:ln/>
        </p:spPr>
        <p:txBody>
          <a:bodyPr wrap="square" lIns="0" tIns="0" rIns="0" bIns="0" rtlCol="0" anchor="t"/>
          <a:lstStyle/>
          <a:p>
            <a:pPr indent="0" marL="0">
              <a:buNone/>
            </a:pPr>
            <a:r>
              <a:rPr lang="en-US" sz="1200" b="1" spc="200" kern="0" dirty="0">
                <a:solidFill>
                  <a:srgbClr val="FF5A67"/>
                </a:solidFill>
                <a:latin typeface="Courier New" pitchFamily="34" charset="0"/>
                <a:ea typeface="Courier New" pitchFamily="34" charset="-122"/>
                <a:cs typeface="Courier New" pitchFamily="34" charset="-120"/>
              </a:rPr>
              <a:t>USERS PER PLATFORM</a:t>
            </a:r>
            <a:endParaRPr lang="en-US" sz="1200" dirty="0"/>
          </a:p>
        </p:txBody>
      </p:sp>
      <p:graphicFrame>
        <p:nvGraphicFramePr>
          <p:cNvPr id="6" name="Chart 0" descr=""/>
          <p:cNvGraphicFramePr/>
          <p:nvPr/>
        </p:nvGraphicFramePr>
        <p:xfrm>
          <a:off x="777240" y="2011680"/>
          <a:ext cx="4983480" cy="301752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868680" y="5166360"/>
            <a:ext cx="4846320" cy="731520"/>
          </a:xfrm>
          <a:prstGeom prst="rect">
            <a:avLst/>
          </a:prstGeom>
          <a:noFill/>
          <a:ln/>
        </p:spPr>
        <p:txBody>
          <a:bodyPr wrap="square" lIns="0" tIns="0" rIns="0" bIns="0" rtlCol="0" anchor="t"/>
          <a:lstStyle/>
          <a:p>
            <a:pPr indent="0" marL="0">
              <a:buNone/>
            </a:pPr>
            <a:r>
              <a:rPr lang="en-US" sz="1400" dirty="0">
                <a:solidFill>
                  <a:srgbClr val="A9B4D6"/>
                </a:solidFill>
              </a:rPr>
              <a:t>About 362 users on Instagram, 331 on YouTube and 307 on Facebook (read from the dashboard, approximate).</a:t>
            </a:r>
            <a:endParaRPr lang="en-US" sz="1400" dirty="0"/>
          </a:p>
        </p:txBody>
      </p:sp>
      <p:pic>
        <p:nvPicPr>
          <p:cNvPr id="8" name="Glass panel" descr="Glass panel">    </p:cNvPr>
          <p:cNvPicPr>
            <a:picLocks noChangeAspect="1"/>
          </p:cNvPicPr>
          <p:nvPr/>
        </p:nvPicPr>
        <p:blipFill>
          <a:blip r:embed="rId3"/>
          <a:stretch>
            <a:fillRect/>
          </a:stretch>
        </p:blipFill>
        <p:spPr>
          <a:xfrm>
            <a:off x="5925312" y="1188720"/>
            <a:ext cx="5989320" cy="5120640"/>
          </a:xfrm>
          <a:prstGeom prst="rect">
            <a:avLst/>
          </a:prstGeom>
        </p:spPr>
      </p:pic>
      <p:sp>
        <p:nvSpPr>
          <p:cNvPr id="9" name="Text 4"/>
          <p:cNvSpPr txBox="1"/>
          <p:nvPr/>
        </p:nvSpPr>
        <p:spPr>
          <a:xfrm>
            <a:off x="6519672" y="1691640"/>
            <a:ext cx="4754880" cy="274320"/>
          </a:xfrm>
          <a:prstGeom prst="rect">
            <a:avLst/>
          </a:prstGeom>
          <a:noFill/>
          <a:ln/>
        </p:spPr>
        <p:txBody>
          <a:bodyPr wrap="square" lIns="0" tIns="0" rIns="0" bIns="0" rtlCol="0" anchor="t"/>
          <a:lstStyle/>
          <a:p>
            <a:pPr indent="0" marL="0">
              <a:buNone/>
            </a:pPr>
            <a:r>
              <a:rPr lang="en-US" sz="1200" b="1" spc="200" kern="0" dirty="0">
                <a:solidFill>
                  <a:srgbClr val="6FB1FF"/>
                </a:solidFill>
                <a:latin typeface="Courier New" pitchFamily="34" charset="0"/>
                <a:ea typeface="Courier New" pitchFamily="34" charset="-122"/>
                <a:cs typeface="Courier New" pitchFamily="34" charset="-120"/>
              </a:rPr>
              <a:t>AVERAGE TIME SPENT BY PLATFORM</a:t>
            </a:r>
            <a:endParaRPr lang="en-US" sz="1200" dirty="0"/>
          </a:p>
        </p:txBody>
      </p:sp>
      <p:graphicFrame>
        <p:nvGraphicFramePr>
          <p:cNvPr id="10" name="Chart 1" descr=""/>
          <p:cNvGraphicFramePr/>
          <p:nvPr/>
        </p:nvGraphicFramePr>
        <p:xfrm>
          <a:off x="6428232" y="2011680"/>
          <a:ext cx="4983480" cy="3017520"/>
        </p:xfrm>
        <a:graphic xmlns:a="http://schemas.openxmlformats.org/drawingml/2006/main">
          <a:graphicData uri="http://schemas.openxmlformats.org/drawingml/2006/chart">
            <c:chart xmlns:c="http://schemas.openxmlformats.org/drawingml/2006/chart" r:id="rId4"/>
          </a:graphicData>
        </a:graphic>
      </p:graphicFrame>
      <p:sp>
        <p:nvSpPr>
          <p:cNvPr id="11" name="Text 5"/>
          <p:cNvSpPr txBox="1"/>
          <p:nvPr/>
        </p:nvSpPr>
        <p:spPr>
          <a:xfrm>
            <a:off x="6519672" y="5166360"/>
            <a:ext cx="4846320" cy="731520"/>
          </a:xfrm>
          <a:prstGeom prst="rect">
            <a:avLst/>
          </a:prstGeom>
          <a:noFill/>
          <a:ln/>
        </p:spPr>
        <p:txBody>
          <a:bodyPr wrap="square" lIns="0" tIns="0" rIns="0" bIns="0" rtlCol="0" anchor="t"/>
          <a:lstStyle/>
          <a:p>
            <a:pPr indent="0" marL="0">
              <a:buNone/>
            </a:pPr>
            <a:r>
              <a:rPr lang="en-US" sz="1400" dirty="0">
                <a:solidFill>
                  <a:srgbClr val="A9B4D6"/>
                </a:solidFill>
              </a:rPr>
              <a:t>All three platforms are close to 5 on the time scale; Instagram is highest, YouTube lowest.</a:t>
            </a:r>
            <a:endParaRPr lang="en-US" sz="14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FF5A67"/>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indent="0" marL="0">
              <a:buNone/>
            </a:pPr>
            <a:r>
              <a:rPr lang="en-US" sz="1200" b="1" spc="300" kern="0" dirty="0">
                <a:solidFill>
                  <a:srgbClr val="FF5A67"/>
                </a:solidFill>
                <a:latin typeface="Courier New" pitchFamily="34" charset="0"/>
                <a:ea typeface="Courier New" pitchFamily="34" charset="-122"/>
                <a:cs typeface="Courier New" pitchFamily="34" charset="-120"/>
              </a:rPr>
              <a:t>// 06  AGE AND PROFESSION</a:t>
            </a:r>
            <a:endParaRPr lang="en-US" sz="1200" dirty="0"/>
          </a:p>
        </p:txBody>
      </p:sp>
      <p:sp>
        <p:nvSpPr>
          <p:cNvPr id="3" name="Text 1"/>
          <p:cNvSpPr/>
          <p:nvPr>
            <p:ph idx="101" type="title" hasCustomPrompt="1"/>
          </p:nvPr>
        </p:nvSpPr>
        <p:spPr>
          <a:xfrm>
            <a:off x="548640" y="530352"/>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rPr>
              <a:t>Time spent by age and by profession</a:t>
            </a:r>
            <a:endParaRPr lang="en-US" sz="3400" dirty="0"/>
          </a:p>
        </p:txBody>
      </p:sp>
      <p:pic>
        <p:nvPicPr>
          <p:cNvPr id="4" name="Glass panel" descr="Glass panel">    </p:cNvPr>
          <p:cNvPicPr>
            <a:picLocks noChangeAspect="1"/>
          </p:cNvPicPr>
          <p:nvPr/>
        </p:nvPicPr>
        <p:blipFill>
          <a:blip r:embed="rId1"/>
          <a:stretch>
            <a:fillRect/>
          </a:stretch>
        </p:blipFill>
        <p:spPr>
          <a:xfrm>
            <a:off x="274320" y="1188720"/>
            <a:ext cx="7772400" cy="5120640"/>
          </a:xfrm>
          <a:prstGeom prst="rect">
            <a:avLst/>
          </a:prstGeom>
        </p:spPr>
      </p:pic>
      <p:sp>
        <p:nvSpPr>
          <p:cNvPr id="5" name="Text 2"/>
          <p:cNvSpPr txBox="1"/>
          <p:nvPr/>
        </p:nvSpPr>
        <p:spPr>
          <a:xfrm>
            <a:off x="868680" y="1691640"/>
            <a:ext cx="5486400" cy="274320"/>
          </a:xfrm>
          <a:prstGeom prst="rect">
            <a:avLst/>
          </a:prstGeom>
          <a:noFill/>
          <a:ln/>
        </p:spPr>
        <p:txBody>
          <a:bodyPr wrap="square" lIns="0" tIns="0" rIns="0" bIns="0" rtlCol="0" anchor="t"/>
          <a:lstStyle/>
          <a:p>
            <a:pPr indent="0" marL="0">
              <a:buNone/>
            </a:pPr>
            <a:r>
              <a:rPr lang="en-US" sz="1200" b="1" spc="200" kern="0" dirty="0">
                <a:solidFill>
                  <a:srgbClr val="FF5A67"/>
                </a:solidFill>
                <a:latin typeface="Courier New" pitchFamily="34" charset="0"/>
                <a:ea typeface="Courier New" pitchFamily="34" charset="-122"/>
                <a:cs typeface="Courier New" pitchFamily="34" charset="-120"/>
              </a:rPr>
              <a:t>AVERAGE TIME SPENT BY AGE</a:t>
            </a:r>
            <a:endParaRPr lang="en-US" sz="1200" dirty="0"/>
          </a:p>
        </p:txBody>
      </p:sp>
      <p:graphicFrame>
        <p:nvGraphicFramePr>
          <p:cNvPr id="6" name="Chart 0" descr=""/>
          <p:cNvGraphicFramePr/>
          <p:nvPr/>
        </p:nvGraphicFramePr>
        <p:xfrm>
          <a:off x="777240" y="2011680"/>
          <a:ext cx="6766560" cy="306324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868680" y="5166360"/>
            <a:ext cx="6583680" cy="731520"/>
          </a:xfrm>
          <a:prstGeom prst="rect">
            <a:avLst/>
          </a:prstGeom>
          <a:noFill/>
          <a:ln/>
        </p:spPr>
        <p:txBody>
          <a:bodyPr wrap="square" lIns="0" tIns="0" rIns="0" bIns="0" rtlCol="0" anchor="t"/>
          <a:lstStyle/>
          <a:p>
            <a:pPr indent="0" marL="0">
              <a:buNone/>
            </a:pPr>
            <a:r>
              <a:rPr lang="en-US" sz="1400" dirty="0">
                <a:solidFill>
                  <a:srgbClr val="A9B4D6"/>
                </a:solidFill>
              </a:rPr>
              <a:t>Time spent peaks around age 19, dips near 23 and 26, then climbs again by 28 (approximate, age axis 18 to 28 as in the dashboard).</a:t>
            </a:r>
            <a:endParaRPr lang="en-US" sz="1400" dirty="0"/>
          </a:p>
        </p:txBody>
      </p:sp>
      <p:pic>
        <p:nvPicPr>
          <p:cNvPr id="8" name="Glass panel" descr="Glass panel">    </p:cNvPr>
          <p:cNvPicPr>
            <a:picLocks noChangeAspect="1"/>
          </p:cNvPicPr>
          <p:nvPr/>
        </p:nvPicPr>
        <p:blipFill>
          <a:blip r:embed="rId3"/>
          <a:stretch>
            <a:fillRect/>
          </a:stretch>
        </p:blipFill>
        <p:spPr>
          <a:xfrm>
            <a:off x="7772400" y="1188720"/>
            <a:ext cx="4142232" cy="5120640"/>
          </a:xfrm>
          <a:prstGeom prst="rect">
            <a:avLst/>
          </a:prstGeom>
        </p:spPr>
      </p:pic>
      <p:sp>
        <p:nvSpPr>
          <p:cNvPr id="9" name="Text 4"/>
          <p:cNvSpPr txBox="1"/>
          <p:nvPr/>
        </p:nvSpPr>
        <p:spPr>
          <a:xfrm>
            <a:off x="8321040" y="1691640"/>
            <a:ext cx="3108960" cy="274320"/>
          </a:xfrm>
          <a:prstGeom prst="rect">
            <a:avLst/>
          </a:prstGeom>
          <a:noFill/>
          <a:ln/>
        </p:spPr>
        <p:txBody>
          <a:bodyPr wrap="square" lIns="0" tIns="0" rIns="0" bIns="0" rtlCol="0" anchor="t"/>
          <a:lstStyle/>
          <a:p>
            <a:pPr indent="0" marL="0">
              <a:buNone/>
            </a:pPr>
            <a:r>
              <a:rPr lang="en-US" sz="1200" b="1" spc="200" kern="0" dirty="0">
                <a:solidFill>
                  <a:srgbClr val="6FB1FF"/>
                </a:solidFill>
                <a:latin typeface="Courier New" pitchFamily="34" charset="0"/>
                <a:ea typeface="Courier New" pitchFamily="34" charset="-122"/>
                <a:cs typeface="Courier New" pitchFamily="34" charset="-120"/>
              </a:rPr>
              <a:t>BY PROFESSION</a:t>
            </a:r>
            <a:endParaRPr lang="en-US" sz="1200" dirty="0"/>
          </a:p>
        </p:txBody>
      </p:sp>
      <p:graphicFrame>
        <p:nvGraphicFramePr>
          <p:cNvPr id="10" name="Chart 1" descr=""/>
          <p:cNvGraphicFramePr/>
          <p:nvPr/>
        </p:nvGraphicFramePr>
        <p:xfrm>
          <a:off x="8183880" y="2011680"/>
          <a:ext cx="3337560" cy="3063240"/>
        </p:xfrm>
        <a:graphic xmlns:a="http://schemas.openxmlformats.org/drawingml/2006/main">
          <a:graphicData uri="http://schemas.openxmlformats.org/drawingml/2006/chart">
            <c:chart xmlns:c="http://schemas.openxmlformats.org/drawingml/2006/chart" r:id="rId4"/>
          </a:graphicData>
        </a:graphic>
      </p:graphicFrame>
      <p:sp>
        <p:nvSpPr>
          <p:cNvPr id="11" name="Text 5"/>
          <p:cNvSpPr txBox="1"/>
          <p:nvPr/>
        </p:nvSpPr>
        <p:spPr>
          <a:xfrm>
            <a:off x="8321040" y="5166360"/>
            <a:ext cx="3200400" cy="731520"/>
          </a:xfrm>
          <a:prstGeom prst="rect">
            <a:avLst/>
          </a:prstGeom>
          <a:noFill/>
          <a:ln/>
        </p:spPr>
        <p:txBody>
          <a:bodyPr wrap="square" lIns="0" tIns="0" rIns="0" bIns="0" rtlCol="0" anchor="t"/>
          <a:lstStyle/>
          <a:p>
            <a:pPr indent="0" marL="0">
              <a:buNone/>
            </a:pPr>
            <a:r>
              <a:rPr lang="en-US" sz="1400" dirty="0">
                <a:solidFill>
                  <a:srgbClr val="A9B4D6"/>
                </a:solidFill>
              </a:rPr>
              <a:t>All three professions spend about the same time, close to 5.</a:t>
            </a:r>
            <a:endParaRPr lang="en-US" sz="14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FF5A67"/>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indent="0" marL="0">
              <a:buNone/>
            </a:pPr>
            <a:r>
              <a:rPr lang="en-US" sz="1200" b="1" spc="300" kern="0" dirty="0">
                <a:solidFill>
                  <a:srgbClr val="FF5A67"/>
                </a:solidFill>
                <a:latin typeface="Courier New" pitchFamily="34" charset="0"/>
                <a:ea typeface="Courier New" pitchFamily="34" charset="-122"/>
                <a:cs typeface="Courier New" pitchFamily="34" charset="-120"/>
              </a:rPr>
              <a:t>// 07  DEBT AND INTERESTS</a:t>
            </a:r>
            <a:endParaRPr lang="en-US" sz="1200" dirty="0"/>
          </a:p>
        </p:txBody>
      </p:sp>
      <p:sp>
        <p:nvSpPr>
          <p:cNvPr id="3" name="Text 1"/>
          <p:cNvSpPr/>
          <p:nvPr>
            <p:ph idx="101" type="title" hasCustomPrompt="1"/>
          </p:nvPr>
        </p:nvSpPr>
        <p:spPr>
          <a:xfrm>
            <a:off x="548640" y="530352"/>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rPr>
              <a:t>Debt status and interests are evenly split</a:t>
            </a:r>
            <a:endParaRPr lang="en-US" sz="3400" dirty="0"/>
          </a:p>
        </p:txBody>
      </p:sp>
      <p:pic>
        <p:nvPicPr>
          <p:cNvPr id="4" name="Glass panel" descr="Glass panel">    </p:cNvPr>
          <p:cNvPicPr>
            <a:picLocks noChangeAspect="1"/>
          </p:cNvPicPr>
          <p:nvPr/>
        </p:nvPicPr>
        <p:blipFill>
          <a:blip r:embed="rId1"/>
          <a:stretch>
            <a:fillRect/>
          </a:stretch>
        </p:blipFill>
        <p:spPr>
          <a:xfrm>
            <a:off x="274320" y="1188720"/>
            <a:ext cx="6126480" cy="5120640"/>
          </a:xfrm>
          <a:prstGeom prst="rect">
            <a:avLst/>
          </a:prstGeom>
        </p:spPr>
      </p:pic>
      <p:sp>
        <p:nvSpPr>
          <p:cNvPr id="5" name="Text 2"/>
          <p:cNvSpPr txBox="1"/>
          <p:nvPr/>
        </p:nvSpPr>
        <p:spPr>
          <a:xfrm>
            <a:off x="868680" y="1691640"/>
            <a:ext cx="4937760" cy="274320"/>
          </a:xfrm>
          <a:prstGeom prst="rect">
            <a:avLst/>
          </a:prstGeom>
          <a:noFill/>
          <a:ln/>
        </p:spPr>
        <p:txBody>
          <a:bodyPr wrap="square" lIns="0" tIns="0" rIns="0" bIns="0" rtlCol="0" anchor="t"/>
          <a:lstStyle/>
          <a:p>
            <a:pPr indent="0" marL="0">
              <a:buNone/>
            </a:pPr>
            <a:r>
              <a:rPr lang="en-US" sz="1200" b="1" spc="200" kern="0" dirty="0">
                <a:solidFill>
                  <a:srgbClr val="FF5A67"/>
                </a:solidFill>
                <a:latin typeface="Courier New" pitchFamily="34" charset="0"/>
                <a:ea typeface="Courier New" pitchFamily="34" charset="-122"/>
                <a:cs typeface="Courier New" pitchFamily="34" charset="-120"/>
              </a:rPr>
              <a:t>COUNT OF USERS BY DEBT STATUS</a:t>
            </a:r>
            <a:endParaRPr lang="en-US" sz="1200" dirty="0"/>
          </a:p>
        </p:txBody>
      </p:sp>
      <p:graphicFrame>
        <p:nvGraphicFramePr>
          <p:cNvPr id="6" name="Chart 0" descr=""/>
          <p:cNvGraphicFramePr/>
          <p:nvPr/>
        </p:nvGraphicFramePr>
        <p:xfrm>
          <a:off x="777240" y="1965960"/>
          <a:ext cx="5120640" cy="320040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868680" y="5257800"/>
            <a:ext cx="5029200" cy="640080"/>
          </a:xfrm>
          <a:prstGeom prst="rect">
            <a:avLst/>
          </a:prstGeom>
          <a:noFill/>
          <a:ln/>
        </p:spPr>
        <p:txBody>
          <a:bodyPr wrap="square" lIns="0" tIns="0" rIns="0" bIns="0" rtlCol="0" anchor="t"/>
          <a:lstStyle/>
          <a:p>
            <a:pPr indent="0" marL="0">
              <a:buNone/>
            </a:pPr>
            <a:r>
              <a:rPr lang="en-US" sz="1400" dirty="0">
                <a:solidFill>
                  <a:srgbClr val="A9B4D6"/>
                </a:solidFill>
              </a:rPr>
              <a:t>503 users are not in debt (50.3%) and 497 are in debt (49.7%): essentially half and half.</a:t>
            </a:r>
            <a:endParaRPr lang="en-US" sz="1400" dirty="0"/>
          </a:p>
        </p:txBody>
      </p:sp>
      <p:pic>
        <p:nvPicPr>
          <p:cNvPr id="8" name="Glass panel" descr="Glass panel">    </p:cNvPr>
          <p:cNvPicPr>
            <a:picLocks noChangeAspect="1"/>
          </p:cNvPicPr>
          <p:nvPr/>
        </p:nvPicPr>
        <p:blipFill>
          <a:blip r:embed="rId3"/>
          <a:stretch>
            <a:fillRect/>
          </a:stretch>
        </p:blipFill>
        <p:spPr>
          <a:xfrm>
            <a:off x="6126480" y="1188720"/>
            <a:ext cx="5788152" cy="1920240"/>
          </a:xfrm>
          <a:prstGeom prst="rect">
            <a:avLst/>
          </a:prstGeom>
        </p:spPr>
      </p:pic>
      <p:sp>
        <p:nvSpPr>
          <p:cNvPr id="9" name="Icon chip"/>
          <p:cNvSpPr/>
          <p:nvPr/>
        </p:nvSpPr>
        <p:spPr>
          <a:xfrm>
            <a:off x="6766560" y="1828800"/>
            <a:ext cx="640080" cy="640080"/>
          </a:xfrm>
          <a:custGeom>
            <a:avLst/>
            <a:gdLst/>
            <a:ahLst/>
            <a:cxnLst/>
            <a:rect l="l" t="t" r="r" b="b"/>
            <a:pathLst>
              <a:path w="640080" h="640080">
                <a:moveTo>
                  <a:pt x="166421" y="0"/>
                </a:moveTo>
                <a:lnTo>
                  <a:pt x="473659" y="0"/>
                </a:lnTo>
                <a:lnTo>
                  <a:pt x="640080" y="166421"/>
                </a:lnTo>
                <a:lnTo>
                  <a:pt x="640080" y="473659"/>
                </a:lnTo>
                <a:lnTo>
                  <a:pt x="473659" y="640080"/>
                </a:lnTo>
                <a:lnTo>
                  <a:pt x="166421" y="640080"/>
                </a:lnTo>
                <a:lnTo>
                  <a:pt x="0" y="473659"/>
                </a:lnTo>
                <a:lnTo>
                  <a:pt x="0" y="166421"/>
                </a:lnTo>
                <a:close/>
              </a:path>
            </a:pathLst>
          </a:custGeom>
          <a:solidFill>
            <a:schemeClr val="tx1">
              <a:alpha val="70000"/>
            </a:schemeClr>
          </a:solidFill>
          <a:ln w="19050">
            <a:solidFill>
              <a:srgbClr val="E0212F"/>
            </a:solidFill>
            <a:prstDash val="solid"/>
          </a:ln>
        </p:spPr>
      </p:sp>
      <p:pic>
        <p:nvPicPr>
          <p:cNvPr id="10" name="Icon" descr="icon">    </p:cNvPr>
          <p:cNvPicPr>
            <a:picLocks noChangeAspect="1"/>
          </p:cNvPicPr>
          <p:nvPr/>
        </p:nvPicPr>
        <p:blipFill>
          <a:blip r:embed="rId4"/>
          <a:stretch>
            <a:fillRect/>
          </a:stretch>
        </p:blipFill>
        <p:spPr>
          <a:xfrm>
            <a:off x="6798564" y="1860804"/>
            <a:ext cx="576072" cy="576072"/>
          </a:xfrm>
          <a:prstGeom prst="rect">
            <a:avLst/>
          </a:prstGeom>
        </p:spPr>
      </p:pic>
      <p:sp>
        <p:nvSpPr>
          <p:cNvPr id="11" name="Text 5"/>
          <p:cNvSpPr txBox="1"/>
          <p:nvPr/>
        </p:nvSpPr>
        <p:spPr>
          <a:xfrm>
            <a:off x="7635240" y="1737360"/>
            <a:ext cx="2194560" cy="457200"/>
          </a:xfrm>
          <a:prstGeom prst="rect">
            <a:avLst/>
          </a:prstGeom>
          <a:noFill/>
          <a:ln/>
        </p:spPr>
        <p:txBody>
          <a:bodyPr wrap="square" lIns="0" tIns="0" rIns="0" bIns="0" rtlCol="0" anchor="ctr"/>
          <a:lstStyle/>
          <a:p>
            <a:pPr indent="0" marL="0">
              <a:buNone/>
            </a:pPr>
            <a:r>
              <a:rPr lang="en-US" sz="2200" b="1" dirty="0">
                <a:solidFill>
                  <a:schemeClr val="bg1"/>
                </a:solidFill>
              </a:rPr>
              <a:t>Lifestyle</a:t>
            </a:r>
            <a:endParaRPr lang="en-US" sz="2200" dirty="0"/>
          </a:p>
        </p:txBody>
      </p:sp>
      <p:sp>
        <p:nvSpPr>
          <p:cNvPr id="12" name="Text 6"/>
          <p:cNvSpPr txBox="1"/>
          <p:nvPr/>
        </p:nvSpPr>
        <p:spPr>
          <a:xfrm>
            <a:off x="7635240" y="2240280"/>
            <a:ext cx="2377440" cy="320040"/>
          </a:xfrm>
          <a:prstGeom prst="rect">
            <a:avLst/>
          </a:prstGeom>
          <a:noFill/>
          <a:ln/>
        </p:spPr>
        <p:txBody>
          <a:bodyPr wrap="square" lIns="0" tIns="0" rIns="0" bIns="0" rtlCol="0" anchor="t"/>
          <a:lstStyle/>
          <a:p>
            <a:pPr indent="0" marL="0">
              <a:buNone/>
            </a:pPr>
            <a:r>
              <a:rPr lang="en-US" sz="1300" dirty="0">
                <a:solidFill>
                  <a:srgbClr val="A9B4D6"/>
                </a:solidFill>
              </a:rPr>
              <a:t>Share of interests (approx.)</a:t>
            </a:r>
            <a:endParaRPr lang="en-US" sz="1300" dirty="0"/>
          </a:p>
        </p:txBody>
      </p:sp>
      <p:sp>
        <p:nvSpPr>
          <p:cNvPr id="13" name="Text 7"/>
          <p:cNvSpPr txBox="1"/>
          <p:nvPr/>
        </p:nvSpPr>
        <p:spPr>
          <a:xfrm>
            <a:off x="9601200" y="1737360"/>
            <a:ext cx="1828800" cy="822960"/>
          </a:xfrm>
          <a:prstGeom prst="rect">
            <a:avLst/>
          </a:prstGeom>
          <a:noFill/>
          <a:ln/>
        </p:spPr>
        <p:txBody>
          <a:bodyPr wrap="square" lIns="0" tIns="0" rIns="0" bIns="0" rtlCol="0" anchor="ctr"/>
          <a:lstStyle/>
          <a:p>
            <a:pPr algn="r" indent="0" marL="0">
              <a:buNone/>
            </a:pPr>
            <a:r>
              <a:rPr lang="en-US" sz="3200" b="1" dirty="0">
                <a:solidFill>
                  <a:srgbClr val="FF5A67"/>
                </a:solidFill>
                <a:latin typeface="Courier New" pitchFamily="34" charset="0"/>
                <a:ea typeface="Courier New" pitchFamily="34" charset="-122"/>
                <a:cs typeface="Courier New" pitchFamily="34" charset="-120"/>
              </a:rPr>
              <a:t>~34%</a:t>
            </a:r>
            <a:endParaRPr lang="en-US" sz="3200" dirty="0"/>
          </a:p>
        </p:txBody>
      </p:sp>
      <p:pic>
        <p:nvPicPr>
          <p:cNvPr id="14" name="Glass panel" descr="Glass panel">    </p:cNvPr>
          <p:cNvPicPr>
            <a:picLocks noChangeAspect="1"/>
          </p:cNvPicPr>
          <p:nvPr/>
        </p:nvPicPr>
        <p:blipFill>
          <a:blip r:embed="rId5"/>
          <a:stretch>
            <a:fillRect/>
          </a:stretch>
        </p:blipFill>
        <p:spPr>
          <a:xfrm>
            <a:off x="6126480" y="2743200"/>
            <a:ext cx="5788152" cy="1920240"/>
          </a:xfrm>
          <a:prstGeom prst="rect">
            <a:avLst/>
          </a:prstGeom>
        </p:spPr>
      </p:pic>
      <p:sp>
        <p:nvSpPr>
          <p:cNvPr id="15" name="Icon chip"/>
          <p:cNvSpPr/>
          <p:nvPr/>
        </p:nvSpPr>
        <p:spPr>
          <a:xfrm>
            <a:off x="6766560" y="3383280"/>
            <a:ext cx="640080" cy="640080"/>
          </a:xfrm>
          <a:custGeom>
            <a:avLst/>
            <a:gdLst/>
            <a:ahLst/>
            <a:cxnLst/>
            <a:rect l="l" t="t" r="r" b="b"/>
            <a:pathLst>
              <a:path w="640080" h="640080">
                <a:moveTo>
                  <a:pt x="166421" y="0"/>
                </a:moveTo>
                <a:lnTo>
                  <a:pt x="473659" y="0"/>
                </a:lnTo>
                <a:lnTo>
                  <a:pt x="640080" y="166421"/>
                </a:lnTo>
                <a:lnTo>
                  <a:pt x="640080" y="473659"/>
                </a:lnTo>
                <a:lnTo>
                  <a:pt x="473659" y="640080"/>
                </a:lnTo>
                <a:lnTo>
                  <a:pt x="166421" y="640080"/>
                </a:lnTo>
                <a:lnTo>
                  <a:pt x="0" y="473659"/>
                </a:lnTo>
                <a:lnTo>
                  <a:pt x="0" y="166421"/>
                </a:lnTo>
                <a:close/>
              </a:path>
            </a:pathLst>
          </a:custGeom>
          <a:solidFill>
            <a:schemeClr val="tx1">
              <a:alpha val="70000"/>
            </a:schemeClr>
          </a:solidFill>
          <a:ln w="19050">
            <a:solidFill>
              <a:srgbClr val="F4F6FF"/>
            </a:solidFill>
            <a:prstDash val="solid"/>
          </a:ln>
        </p:spPr>
      </p:sp>
      <p:pic>
        <p:nvPicPr>
          <p:cNvPr id="16" name="Icon" descr="icon">    </p:cNvPr>
          <p:cNvPicPr>
            <a:picLocks noChangeAspect="1"/>
          </p:cNvPicPr>
          <p:nvPr/>
        </p:nvPicPr>
        <p:blipFill>
          <a:blip r:embed="rId6"/>
          <a:stretch>
            <a:fillRect/>
          </a:stretch>
        </p:blipFill>
        <p:spPr>
          <a:xfrm>
            <a:off x="6798564" y="3415284"/>
            <a:ext cx="576072" cy="576072"/>
          </a:xfrm>
          <a:prstGeom prst="rect">
            <a:avLst/>
          </a:prstGeom>
        </p:spPr>
      </p:pic>
      <p:sp>
        <p:nvSpPr>
          <p:cNvPr id="17" name="Text 9"/>
          <p:cNvSpPr txBox="1"/>
          <p:nvPr/>
        </p:nvSpPr>
        <p:spPr>
          <a:xfrm>
            <a:off x="7635240" y="3291840"/>
            <a:ext cx="2194560" cy="457200"/>
          </a:xfrm>
          <a:prstGeom prst="rect">
            <a:avLst/>
          </a:prstGeom>
          <a:noFill/>
          <a:ln/>
        </p:spPr>
        <p:txBody>
          <a:bodyPr wrap="square" lIns="0" tIns="0" rIns="0" bIns="0" rtlCol="0" anchor="ctr"/>
          <a:lstStyle/>
          <a:p>
            <a:pPr indent="0" marL="0">
              <a:buNone/>
            </a:pPr>
            <a:r>
              <a:rPr lang="en-US" sz="2200" b="1" dirty="0">
                <a:solidFill>
                  <a:schemeClr val="bg1"/>
                </a:solidFill>
              </a:rPr>
              <a:t>Sports</a:t>
            </a:r>
            <a:endParaRPr lang="en-US" sz="2200" dirty="0"/>
          </a:p>
        </p:txBody>
      </p:sp>
      <p:sp>
        <p:nvSpPr>
          <p:cNvPr id="18" name="Text 10"/>
          <p:cNvSpPr txBox="1"/>
          <p:nvPr/>
        </p:nvSpPr>
        <p:spPr>
          <a:xfrm>
            <a:off x="7635240" y="3794760"/>
            <a:ext cx="2377440" cy="320040"/>
          </a:xfrm>
          <a:prstGeom prst="rect">
            <a:avLst/>
          </a:prstGeom>
          <a:noFill/>
          <a:ln/>
        </p:spPr>
        <p:txBody>
          <a:bodyPr wrap="square" lIns="0" tIns="0" rIns="0" bIns="0" rtlCol="0" anchor="t"/>
          <a:lstStyle/>
          <a:p>
            <a:pPr indent="0" marL="0">
              <a:buNone/>
            </a:pPr>
            <a:r>
              <a:rPr lang="en-US" sz="1300" dirty="0">
                <a:solidFill>
                  <a:srgbClr val="A9B4D6"/>
                </a:solidFill>
              </a:rPr>
              <a:t>Share of interests (approx.)</a:t>
            </a:r>
            <a:endParaRPr lang="en-US" sz="1300" dirty="0"/>
          </a:p>
        </p:txBody>
      </p:sp>
      <p:sp>
        <p:nvSpPr>
          <p:cNvPr id="19" name="Text 11"/>
          <p:cNvSpPr txBox="1"/>
          <p:nvPr/>
        </p:nvSpPr>
        <p:spPr>
          <a:xfrm>
            <a:off x="9601200" y="3291840"/>
            <a:ext cx="1828800" cy="822960"/>
          </a:xfrm>
          <a:prstGeom prst="rect">
            <a:avLst/>
          </a:prstGeom>
          <a:noFill/>
          <a:ln/>
        </p:spPr>
        <p:txBody>
          <a:bodyPr wrap="square" lIns="0" tIns="0" rIns="0" bIns="0" rtlCol="0" anchor="ctr"/>
          <a:lstStyle/>
          <a:p>
            <a:pPr algn="r" indent="0" marL="0">
              <a:buNone/>
            </a:pPr>
            <a:r>
              <a:rPr lang="en-US" sz="3200" b="1" dirty="0">
                <a:solidFill>
                  <a:srgbClr val="6FB1FF"/>
                </a:solidFill>
                <a:latin typeface="Courier New" pitchFamily="34" charset="0"/>
                <a:ea typeface="Courier New" pitchFamily="34" charset="-122"/>
                <a:cs typeface="Courier New" pitchFamily="34" charset="-120"/>
              </a:rPr>
              <a:t>~33%</a:t>
            </a:r>
            <a:endParaRPr lang="en-US" sz="3200" dirty="0"/>
          </a:p>
        </p:txBody>
      </p:sp>
      <p:pic>
        <p:nvPicPr>
          <p:cNvPr id="20" name="Glass panel" descr="Glass panel">    </p:cNvPr>
          <p:cNvPicPr>
            <a:picLocks noChangeAspect="1"/>
          </p:cNvPicPr>
          <p:nvPr/>
        </p:nvPicPr>
        <p:blipFill>
          <a:blip r:embed="rId7"/>
          <a:stretch>
            <a:fillRect/>
          </a:stretch>
        </p:blipFill>
        <p:spPr>
          <a:xfrm>
            <a:off x="6126480" y="4297680"/>
            <a:ext cx="5788152" cy="1920240"/>
          </a:xfrm>
          <a:prstGeom prst="rect">
            <a:avLst/>
          </a:prstGeom>
        </p:spPr>
      </p:pic>
      <p:sp>
        <p:nvSpPr>
          <p:cNvPr id="21" name="Icon chip"/>
          <p:cNvSpPr/>
          <p:nvPr/>
        </p:nvSpPr>
        <p:spPr>
          <a:xfrm>
            <a:off x="6766560" y="4937760"/>
            <a:ext cx="640080" cy="640080"/>
          </a:xfrm>
          <a:custGeom>
            <a:avLst/>
            <a:gdLst/>
            <a:ahLst/>
            <a:cxnLst/>
            <a:rect l="l" t="t" r="r" b="b"/>
            <a:pathLst>
              <a:path w="640080" h="640080">
                <a:moveTo>
                  <a:pt x="166421" y="0"/>
                </a:moveTo>
                <a:lnTo>
                  <a:pt x="473659" y="0"/>
                </a:lnTo>
                <a:lnTo>
                  <a:pt x="640080" y="166421"/>
                </a:lnTo>
                <a:lnTo>
                  <a:pt x="640080" y="473659"/>
                </a:lnTo>
                <a:lnTo>
                  <a:pt x="473659" y="640080"/>
                </a:lnTo>
                <a:lnTo>
                  <a:pt x="166421" y="640080"/>
                </a:lnTo>
                <a:lnTo>
                  <a:pt x="0" y="473659"/>
                </a:lnTo>
                <a:lnTo>
                  <a:pt x="0" y="166421"/>
                </a:lnTo>
                <a:close/>
              </a:path>
            </a:pathLst>
          </a:custGeom>
          <a:solidFill>
            <a:schemeClr val="tx1">
              <a:alpha val="70000"/>
            </a:schemeClr>
          </a:solidFill>
          <a:ln w="19050">
            <a:solidFill>
              <a:srgbClr val="2F86FF"/>
            </a:solidFill>
            <a:prstDash val="solid"/>
          </a:ln>
        </p:spPr>
      </p:sp>
      <p:pic>
        <p:nvPicPr>
          <p:cNvPr id="22" name="Icon" descr="icon">    </p:cNvPr>
          <p:cNvPicPr>
            <a:picLocks noChangeAspect="1"/>
          </p:cNvPicPr>
          <p:nvPr/>
        </p:nvPicPr>
        <p:blipFill>
          <a:blip r:embed="rId8"/>
          <a:stretch>
            <a:fillRect/>
          </a:stretch>
        </p:blipFill>
        <p:spPr>
          <a:xfrm>
            <a:off x="6798564" y="4969764"/>
            <a:ext cx="576072" cy="576072"/>
          </a:xfrm>
          <a:prstGeom prst="rect">
            <a:avLst/>
          </a:prstGeom>
        </p:spPr>
      </p:pic>
      <p:sp>
        <p:nvSpPr>
          <p:cNvPr id="23" name="Text 13"/>
          <p:cNvSpPr txBox="1"/>
          <p:nvPr/>
        </p:nvSpPr>
        <p:spPr>
          <a:xfrm>
            <a:off x="7635240" y="4846320"/>
            <a:ext cx="2194560" cy="457200"/>
          </a:xfrm>
          <a:prstGeom prst="rect">
            <a:avLst/>
          </a:prstGeom>
          <a:noFill/>
          <a:ln/>
        </p:spPr>
        <p:txBody>
          <a:bodyPr wrap="square" lIns="0" tIns="0" rIns="0" bIns="0" rtlCol="0" anchor="ctr"/>
          <a:lstStyle/>
          <a:p>
            <a:pPr indent="0" marL="0">
              <a:buNone/>
            </a:pPr>
            <a:r>
              <a:rPr lang="en-US" sz="2200" b="1" dirty="0">
                <a:solidFill>
                  <a:schemeClr val="bg1"/>
                </a:solidFill>
              </a:rPr>
              <a:t>Travel</a:t>
            </a:r>
            <a:endParaRPr lang="en-US" sz="2200" dirty="0"/>
          </a:p>
        </p:txBody>
      </p:sp>
      <p:sp>
        <p:nvSpPr>
          <p:cNvPr id="24" name="Text 14"/>
          <p:cNvSpPr txBox="1"/>
          <p:nvPr/>
        </p:nvSpPr>
        <p:spPr>
          <a:xfrm>
            <a:off x="7635240" y="5349240"/>
            <a:ext cx="2377440" cy="320040"/>
          </a:xfrm>
          <a:prstGeom prst="rect">
            <a:avLst/>
          </a:prstGeom>
          <a:noFill/>
          <a:ln/>
        </p:spPr>
        <p:txBody>
          <a:bodyPr wrap="square" lIns="0" tIns="0" rIns="0" bIns="0" rtlCol="0" anchor="t"/>
          <a:lstStyle/>
          <a:p>
            <a:pPr indent="0" marL="0">
              <a:buNone/>
            </a:pPr>
            <a:r>
              <a:rPr lang="en-US" sz="1300" dirty="0">
                <a:solidFill>
                  <a:srgbClr val="A9B4D6"/>
                </a:solidFill>
              </a:rPr>
              <a:t>Share of interests (approx.)</a:t>
            </a:r>
            <a:endParaRPr lang="en-US" sz="1300" dirty="0"/>
          </a:p>
        </p:txBody>
      </p:sp>
      <p:sp>
        <p:nvSpPr>
          <p:cNvPr id="25" name="Text 15"/>
          <p:cNvSpPr txBox="1"/>
          <p:nvPr/>
        </p:nvSpPr>
        <p:spPr>
          <a:xfrm>
            <a:off x="9601200" y="4846320"/>
            <a:ext cx="1828800" cy="822960"/>
          </a:xfrm>
          <a:prstGeom prst="rect">
            <a:avLst/>
          </a:prstGeom>
          <a:noFill/>
          <a:ln/>
        </p:spPr>
        <p:txBody>
          <a:bodyPr wrap="square" lIns="0" tIns="0" rIns="0" bIns="0" rtlCol="0" anchor="ctr"/>
          <a:lstStyle/>
          <a:p>
            <a:pPr algn="r" indent="0" marL="0">
              <a:buNone/>
            </a:pPr>
            <a:r>
              <a:rPr lang="en-US" sz="3200" b="1" dirty="0">
                <a:solidFill>
                  <a:srgbClr val="FF5A67"/>
                </a:solidFill>
                <a:latin typeface="Courier New" pitchFamily="34" charset="0"/>
                <a:ea typeface="Courier New" pitchFamily="34" charset="-122"/>
                <a:cs typeface="Courier New" pitchFamily="34" charset="-120"/>
              </a:rPr>
              <a:t>~33%</a:t>
            </a:r>
            <a:endParaRPr lang="en-US" sz="32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FF5A67"/>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indent="0" marL="0">
              <a:buNone/>
            </a:pPr>
            <a:r>
              <a:rPr lang="en-US" sz="1200" b="1" spc="300" kern="0" dirty="0">
                <a:solidFill>
                  <a:srgbClr val="FF5A67"/>
                </a:solidFill>
                <a:latin typeface="Courier New" pitchFamily="34" charset="0"/>
                <a:ea typeface="Courier New" pitchFamily="34" charset="-122"/>
                <a:cs typeface="Courier New" pitchFamily="34" charset="-120"/>
              </a:rPr>
              <a:t>// 08  SUMMARY</a:t>
            </a:r>
            <a:endParaRPr lang="en-US" sz="1200" dirty="0"/>
          </a:p>
        </p:txBody>
      </p:sp>
      <p:sp>
        <p:nvSpPr>
          <p:cNvPr id="3" name="Text 1"/>
          <p:cNvSpPr/>
          <p:nvPr>
            <p:ph idx="101" type="title" hasCustomPrompt="1"/>
          </p:nvPr>
        </p:nvSpPr>
        <p:spPr>
          <a:xfrm>
            <a:off x="548640" y="530352"/>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rPr>
              <a:t>Key takeaways</a:t>
            </a:r>
            <a:endParaRPr lang="en-US" sz="3400" dirty="0"/>
          </a:p>
        </p:txBody>
      </p:sp>
      <p:pic>
        <p:nvPicPr>
          <p:cNvPr id="4" name="Glass panel" descr="Glass panel">    </p:cNvPr>
          <p:cNvPicPr>
            <a:picLocks noChangeAspect="1"/>
          </p:cNvPicPr>
          <p:nvPr/>
        </p:nvPicPr>
        <p:blipFill>
          <a:blip r:embed="rId1"/>
          <a:stretch>
            <a:fillRect/>
          </a:stretch>
        </p:blipFill>
        <p:spPr>
          <a:xfrm>
            <a:off x="274320" y="1188720"/>
            <a:ext cx="5916168" cy="2651760"/>
          </a:xfrm>
          <a:prstGeom prst="rect">
            <a:avLst/>
          </a:prstGeom>
        </p:spPr>
      </p:pic>
      <p:sp>
        <p:nvSpPr>
          <p:cNvPr id="5" name="Text 2"/>
          <p:cNvSpPr txBox="1"/>
          <p:nvPr/>
        </p:nvSpPr>
        <p:spPr>
          <a:xfrm>
            <a:off x="868680" y="1965960"/>
            <a:ext cx="1188720" cy="914400"/>
          </a:xfrm>
          <a:prstGeom prst="rect">
            <a:avLst/>
          </a:prstGeom>
          <a:noFill/>
          <a:ln/>
        </p:spPr>
        <p:txBody>
          <a:bodyPr wrap="square" lIns="0" tIns="0" rIns="0" bIns="0" rtlCol="0" anchor="ctr"/>
          <a:lstStyle/>
          <a:p>
            <a:pPr indent="0" marL="0">
              <a:buNone/>
            </a:pPr>
            <a:r>
              <a:rPr lang="en-US" sz="4000" b="1" dirty="0">
                <a:solidFill>
                  <a:srgbClr val="FF5A67"/>
                </a:solidFill>
                <a:latin typeface="Courier New" pitchFamily="34" charset="0"/>
                <a:ea typeface="Courier New" pitchFamily="34" charset="-122"/>
                <a:cs typeface="Courier New" pitchFamily="34" charset="-120"/>
              </a:rPr>
              <a:t>01</a:t>
            </a:r>
            <a:endParaRPr lang="en-US" sz="4000" dirty="0"/>
          </a:p>
        </p:txBody>
      </p:sp>
      <p:sp>
        <p:nvSpPr>
          <p:cNvPr id="6" name="Text 3"/>
          <p:cNvSpPr txBox="1"/>
          <p:nvPr/>
        </p:nvSpPr>
        <p:spPr>
          <a:xfrm>
            <a:off x="2240280" y="1737360"/>
            <a:ext cx="3474720" cy="502920"/>
          </a:xfrm>
          <a:prstGeom prst="rect">
            <a:avLst/>
          </a:prstGeom>
          <a:noFill/>
          <a:ln/>
        </p:spPr>
        <p:txBody>
          <a:bodyPr wrap="square" lIns="0" tIns="0" rIns="0" bIns="0" rtlCol="0" anchor="ctr"/>
          <a:lstStyle/>
          <a:p>
            <a:pPr indent="0" marL="0">
              <a:buNone/>
            </a:pPr>
            <a:r>
              <a:rPr lang="en-US" sz="2200" b="1" dirty="0">
                <a:solidFill>
                  <a:schemeClr val="bg1"/>
                </a:solidFill>
              </a:rPr>
              <a:t>A balanced audience</a:t>
            </a:r>
            <a:endParaRPr lang="en-US" sz="2200" dirty="0"/>
          </a:p>
        </p:txBody>
      </p:sp>
      <p:sp>
        <p:nvSpPr>
          <p:cNvPr id="7" name="Text 4"/>
          <p:cNvSpPr txBox="1"/>
          <p:nvPr/>
        </p:nvSpPr>
        <p:spPr>
          <a:xfrm>
            <a:off x="2240280" y="2331720"/>
            <a:ext cx="3429000" cy="1097280"/>
          </a:xfrm>
          <a:prstGeom prst="rect">
            <a:avLst/>
          </a:prstGeom>
          <a:noFill/>
          <a:ln/>
        </p:spPr>
        <p:txBody>
          <a:bodyPr wrap="square" lIns="0" tIns="0" rIns="0" bIns="0" rtlCol="0" anchor="t"/>
          <a:lstStyle/>
          <a:p>
            <a:pPr indent="0" marL="0">
              <a:buNone/>
            </a:pPr>
            <a:r>
              <a:rPr lang="en-US" sz="1500" dirty="0">
                <a:solidFill>
                  <a:srgbClr val="A9B4D6"/>
                </a:solidFill>
              </a:rPr>
              <a:t>1,000 users split almost evenly across rural, sub-urban and urban areas.</a:t>
            </a:r>
            <a:endParaRPr lang="en-US" sz="1500" dirty="0"/>
          </a:p>
        </p:txBody>
      </p:sp>
      <p:pic>
        <p:nvPicPr>
          <p:cNvPr id="8" name="Glass panel" descr="Glass panel">    </p:cNvPr>
          <p:cNvPicPr>
            <a:picLocks noChangeAspect="1"/>
          </p:cNvPicPr>
          <p:nvPr/>
        </p:nvPicPr>
        <p:blipFill>
          <a:blip r:embed="rId2"/>
          <a:stretch>
            <a:fillRect/>
          </a:stretch>
        </p:blipFill>
        <p:spPr>
          <a:xfrm>
            <a:off x="5971032" y="1188720"/>
            <a:ext cx="5916168" cy="2651760"/>
          </a:xfrm>
          <a:prstGeom prst="rect">
            <a:avLst/>
          </a:prstGeom>
        </p:spPr>
      </p:pic>
      <p:sp>
        <p:nvSpPr>
          <p:cNvPr id="9" name="Text 5"/>
          <p:cNvSpPr txBox="1"/>
          <p:nvPr/>
        </p:nvSpPr>
        <p:spPr>
          <a:xfrm>
            <a:off x="6565392" y="1965960"/>
            <a:ext cx="1188720" cy="914400"/>
          </a:xfrm>
          <a:prstGeom prst="rect">
            <a:avLst/>
          </a:prstGeom>
          <a:noFill/>
          <a:ln/>
        </p:spPr>
        <p:txBody>
          <a:bodyPr wrap="square" lIns="0" tIns="0" rIns="0" bIns="0" rtlCol="0" anchor="ctr"/>
          <a:lstStyle/>
          <a:p>
            <a:pPr indent="0" marL="0">
              <a:buNone/>
            </a:pPr>
            <a:r>
              <a:rPr lang="en-US" sz="4000" b="1" dirty="0">
                <a:solidFill>
                  <a:srgbClr val="6FB1FF"/>
                </a:solidFill>
                <a:latin typeface="Courier New" pitchFamily="34" charset="0"/>
                <a:ea typeface="Courier New" pitchFamily="34" charset="-122"/>
                <a:cs typeface="Courier New" pitchFamily="34" charset="-120"/>
              </a:rPr>
              <a:t>02</a:t>
            </a:r>
            <a:endParaRPr lang="en-US" sz="4000" dirty="0"/>
          </a:p>
        </p:txBody>
      </p:sp>
      <p:sp>
        <p:nvSpPr>
          <p:cNvPr id="10" name="Text 6"/>
          <p:cNvSpPr txBox="1"/>
          <p:nvPr/>
        </p:nvSpPr>
        <p:spPr>
          <a:xfrm>
            <a:off x="7936992" y="1737360"/>
            <a:ext cx="3474720" cy="502920"/>
          </a:xfrm>
          <a:prstGeom prst="rect">
            <a:avLst/>
          </a:prstGeom>
          <a:noFill/>
          <a:ln/>
        </p:spPr>
        <p:txBody>
          <a:bodyPr wrap="square" lIns="0" tIns="0" rIns="0" bIns="0" rtlCol="0" anchor="ctr"/>
          <a:lstStyle/>
          <a:p>
            <a:pPr indent="0" marL="0">
              <a:buNone/>
            </a:pPr>
            <a:r>
              <a:rPr lang="en-US" sz="2200" b="1" dirty="0">
                <a:solidFill>
                  <a:schemeClr val="bg1"/>
                </a:solidFill>
              </a:rPr>
              <a:t>Instagram leads narrowly</a:t>
            </a:r>
            <a:endParaRPr lang="en-US" sz="2200" dirty="0"/>
          </a:p>
        </p:txBody>
      </p:sp>
      <p:sp>
        <p:nvSpPr>
          <p:cNvPr id="11" name="Text 7"/>
          <p:cNvSpPr txBox="1"/>
          <p:nvPr/>
        </p:nvSpPr>
        <p:spPr>
          <a:xfrm>
            <a:off x="7936992" y="2331720"/>
            <a:ext cx="3429000" cy="1097280"/>
          </a:xfrm>
          <a:prstGeom prst="rect">
            <a:avLst/>
          </a:prstGeom>
          <a:noFill/>
          <a:ln/>
        </p:spPr>
        <p:txBody>
          <a:bodyPr wrap="square" lIns="0" tIns="0" rIns="0" bIns="0" rtlCol="0" anchor="t"/>
          <a:lstStyle/>
          <a:p>
            <a:pPr indent="0" marL="0">
              <a:buNone/>
            </a:pPr>
            <a:r>
              <a:rPr lang="en-US" sz="1500" dirty="0">
                <a:solidFill>
                  <a:srgbClr val="A9B4D6"/>
                </a:solidFill>
              </a:rPr>
              <a:t>Most users and the highest average time, but all three platforms are close to 5.</a:t>
            </a:r>
            <a:endParaRPr lang="en-US" sz="1500" dirty="0"/>
          </a:p>
        </p:txBody>
      </p:sp>
      <p:pic>
        <p:nvPicPr>
          <p:cNvPr id="12" name="Glass panel" descr="Glass panel">    </p:cNvPr>
          <p:cNvPicPr>
            <a:picLocks noChangeAspect="1"/>
          </p:cNvPicPr>
          <p:nvPr/>
        </p:nvPicPr>
        <p:blipFill>
          <a:blip r:embed="rId3"/>
          <a:stretch>
            <a:fillRect/>
          </a:stretch>
        </p:blipFill>
        <p:spPr>
          <a:xfrm>
            <a:off x="274320" y="3657600"/>
            <a:ext cx="5916168" cy="2651760"/>
          </a:xfrm>
          <a:prstGeom prst="rect">
            <a:avLst/>
          </a:prstGeom>
        </p:spPr>
      </p:pic>
      <p:sp>
        <p:nvSpPr>
          <p:cNvPr id="13" name="Text 8"/>
          <p:cNvSpPr txBox="1"/>
          <p:nvPr/>
        </p:nvSpPr>
        <p:spPr>
          <a:xfrm>
            <a:off x="868680" y="4434840"/>
            <a:ext cx="1188720" cy="914400"/>
          </a:xfrm>
          <a:prstGeom prst="rect">
            <a:avLst/>
          </a:prstGeom>
          <a:noFill/>
          <a:ln/>
        </p:spPr>
        <p:txBody>
          <a:bodyPr wrap="square" lIns="0" tIns="0" rIns="0" bIns="0" rtlCol="0" anchor="ctr"/>
          <a:lstStyle/>
          <a:p>
            <a:pPr indent="0" marL="0">
              <a:buNone/>
            </a:pPr>
            <a:r>
              <a:rPr lang="en-US" sz="4000" b="1" dirty="0">
                <a:solidFill>
                  <a:srgbClr val="FF5A67"/>
                </a:solidFill>
                <a:latin typeface="Courier New" pitchFamily="34" charset="0"/>
                <a:ea typeface="Courier New" pitchFamily="34" charset="-122"/>
                <a:cs typeface="Courier New" pitchFamily="34" charset="-120"/>
              </a:rPr>
              <a:t>03</a:t>
            </a:r>
            <a:endParaRPr lang="en-US" sz="4000" dirty="0"/>
          </a:p>
        </p:txBody>
      </p:sp>
      <p:sp>
        <p:nvSpPr>
          <p:cNvPr id="14" name="Text 9"/>
          <p:cNvSpPr txBox="1"/>
          <p:nvPr/>
        </p:nvSpPr>
        <p:spPr>
          <a:xfrm>
            <a:off x="2240280" y="4206240"/>
            <a:ext cx="3474720" cy="502920"/>
          </a:xfrm>
          <a:prstGeom prst="rect">
            <a:avLst/>
          </a:prstGeom>
          <a:noFill/>
          <a:ln/>
        </p:spPr>
        <p:txBody>
          <a:bodyPr wrap="square" lIns="0" tIns="0" rIns="0" bIns="0" rtlCol="0" anchor="ctr"/>
          <a:lstStyle/>
          <a:p>
            <a:pPr indent="0" marL="0">
              <a:buNone/>
            </a:pPr>
            <a:r>
              <a:rPr lang="en-US" sz="2200" b="1" dirty="0">
                <a:solidFill>
                  <a:schemeClr val="bg1"/>
                </a:solidFill>
              </a:rPr>
              <a:t>Age shapes the pattern</a:t>
            </a:r>
            <a:endParaRPr lang="en-US" sz="2200" dirty="0"/>
          </a:p>
        </p:txBody>
      </p:sp>
      <p:sp>
        <p:nvSpPr>
          <p:cNvPr id="15" name="Text 10"/>
          <p:cNvSpPr txBox="1"/>
          <p:nvPr/>
        </p:nvSpPr>
        <p:spPr>
          <a:xfrm>
            <a:off x="2240280" y="4800600"/>
            <a:ext cx="3429000" cy="1097280"/>
          </a:xfrm>
          <a:prstGeom prst="rect">
            <a:avLst/>
          </a:prstGeom>
          <a:noFill/>
          <a:ln/>
        </p:spPr>
        <p:txBody>
          <a:bodyPr wrap="square" lIns="0" tIns="0" rIns="0" bIns="0" rtlCol="0" anchor="t"/>
          <a:lstStyle/>
          <a:p>
            <a:pPr indent="0" marL="0">
              <a:buNone/>
            </a:pPr>
            <a:r>
              <a:rPr lang="en-US" sz="1500" dirty="0">
                <a:solidFill>
                  <a:srgbClr val="A9B4D6"/>
                </a:solidFill>
              </a:rPr>
              <a:t>Average time peaks around age 19 and dips near 23 and 26 (ages 18 to 28 shown).</a:t>
            </a:r>
            <a:endParaRPr lang="en-US" sz="1500" dirty="0"/>
          </a:p>
        </p:txBody>
      </p:sp>
      <p:pic>
        <p:nvPicPr>
          <p:cNvPr id="16" name="Glass panel" descr="Glass panel">    </p:cNvPr>
          <p:cNvPicPr>
            <a:picLocks noChangeAspect="1"/>
          </p:cNvPicPr>
          <p:nvPr/>
        </p:nvPicPr>
        <p:blipFill>
          <a:blip r:embed="rId4"/>
          <a:stretch>
            <a:fillRect/>
          </a:stretch>
        </p:blipFill>
        <p:spPr>
          <a:xfrm>
            <a:off x="5971032" y="3657600"/>
            <a:ext cx="5916168" cy="2651760"/>
          </a:xfrm>
          <a:prstGeom prst="rect">
            <a:avLst/>
          </a:prstGeom>
        </p:spPr>
      </p:pic>
      <p:sp>
        <p:nvSpPr>
          <p:cNvPr id="17" name="Text 11"/>
          <p:cNvSpPr txBox="1"/>
          <p:nvPr/>
        </p:nvSpPr>
        <p:spPr>
          <a:xfrm>
            <a:off x="6565392" y="4434840"/>
            <a:ext cx="1188720" cy="914400"/>
          </a:xfrm>
          <a:prstGeom prst="rect">
            <a:avLst/>
          </a:prstGeom>
          <a:noFill/>
          <a:ln/>
        </p:spPr>
        <p:txBody>
          <a:bodyPr wrap="square" lIns="0" tIns="0" rIns="0" bIns="0" rtlCol="0" anchor="ctr"/>
          <a:lstStyle/>
          <a:p>
            <a:pPr indent="0" marL="0">
              <a:buNone/>
            </a:pPr>
            <a:r>
              <a:rPr lang="en-US" sz="4000" b="1" dirty="0">
                <a:solidFill>
                  <a:srgbClr val="6FB1FF"/>
                </a:solidFill>
                <a:latin typeface="Courier New" pitchFamily="34" charset="0"/>
                <a:ea typeface="Courier New" pitchFamily="34" charset="-122"/>
                <a:cs typeface="Courier New" pitchFamily="34" charset="-120"/>
              </a:rPr>
              <a:t>04</a:t>
            </a:r>
            <a:endParaRPr lang="en-US" sz="4000" dirty="0"/>
          </a:p>
        </p:txBody>
      </p:sp>
      <p:sp>
        <p:nvSpPr>
          <p:cNvPr id="18" name="Text 12"/>
          <p:cNvSpPr txBox="1"/>
          <p:nvPr/>
        </p:nvSpPr>
        <p:spPr>
          <a:xfrm>
            <a:off x="7936992" y="4206240"/>
            <a:ext cx="3474720" cy="502920"/>
          </a:xfrm>
          <a:prstGeom prst="rect">
            <a:avLst/>
          </a:prstGeom>
          <a:noFill/>
          <a:ln/>
        </p:spPr>
        <p:txBody>
          <a:bodyPr wrap="square" lIns="0" tIns="0" rIns="0" bIns="0" rtlCol="0" anchor="ctr"/>
          <a:lstStyle/>
          <a:p>
            <a:pPr indent="0" marL="0">
              <a:buNone/>
            </a:pPr>
            <a:r>
              <a:rPr lang="en-US" sz="2200" b="1" dirty="0">
                <a:solidFill>
                  <a:schemeClr val="bg1"/>
                </a:solidFill>
              </a:rPr>
              <a:t>Groups look alike</a:t>
            </a:r>
            <a:endParaRPr lang="en-US" sz="2200" dirty="0"/>
          </a:p>
        </p:txBody>
      </p:sp>
      <p:sp>
        <p:nvSpPr>
          <p:cNvPr id="19" name="Text 13"/>
          <p:cNvSpPr txBox="1"/>
          <p:nvPr/>
        </p:nvSpPr>
        <p:spPr>
          <a:xfrm>
            <a:off x="7936992" y="4800600"/>
            <a:ext cx="3429000" cy="1097280"/>
          </a:xfrm>
          <a:prstGeom prst="rect">
            <a:avLst/>
          </a:prstGeom>
          <a:noFill/>
          <a:ln/>
        </p:spPr>
        <p:txBody>
          <a:bodyPr wrap="square" lIns="0" tIns="0" rIns="0" bIns="0" rtlCol="0" anchor="t"/>
          <a:lstStyle/>
          <a:p>
            <a:pPr indent="0" marL="0">
              <a:buNone/>
            </a:pPr>
            <a:r>
              <a:rPr lang="en-US" sz="1500" dirty="0">
                <a:solidFill>
                  <a:srgbClr val="A9B4D6"/>
                </a:solidFill>
              </a:rPr>
              <a:t>Gender mix, profession, debt status and interests are all close to an even split.</a:t>
            </a:r>
            <a:endParaRPr lang="en-US" sz="15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FF5A67"/>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Glass ring" descr="Glass ring">    </p:cNvPr>
          <p:cNvPicPr>
            <a:picLocks noChangeAspect="1"/>
          </p:cNvPicPr>
          <p:nvPr/>
        </p:nvPicPr>
        <p:blipFill>
          <a:blip r:embed="rId1"/>
          <a:stretch>
            <a:fillRect/>
          </a:stretch>
        </p:blipFill>
        <p:spPr>
          <a:xfrm>
            <a:off x="6949440" y="1600200"/>
            <a:ext cx="5669280" cy="3712464"/>
          </a:xfrm>
          <a:prstGeom prst="rect">
            <a:avLst/>
          </a:prstGeom>
        </p:spPr>
      </p:pic>
      <p:pic>
        <p:nvPicPr>
          <p:cNvPr id="3" name="Orb" descr="red glass orb">    </p:cNvPr>
          <p:cNvPicPr>
            <a:picLocks noChangeAspect="1"/>
          </p:cNvPicPr>
          <p:nvPr/>
        </p:nvPicPr>
        <p:blipFill>
          <a:blip r:embed="rId2"/>
          <a:stretch>
            <a:fillRect/>
          </a:stretch>
        </p:blipFill>
        <p:spPr>
          <a:xfrm>
            <a:off x="7638898" y="1420978"/>
            <a:ext cx="2735885" cy="2735885"/>
          </a:xfrm>
          <a:prstGeom prst="rect">
            <a:avLst/>
          </a:prstGeom>
        </p:spPr>
      </p:pic>
      <p:pic>
        <p:nvPicPr>
          <p:cNvPr id="4" name="Orb" descr="blue glass orb">    </p:cNvPr>
          <p:cNvPicPr>
            <a:picLocks noChangeAspect="1"/>
          </p:cNvPicPr>
          <p:nvPr/>
        </p:nvPicPr>
        <p:blipFill>
          <a:blip r:embed="rId3"/>
          <a:stretch>
            <a:fillRect/>
          </a:stretch>
        </p:blipFill>
        <p:spPr>
          <a:xfrm>
            <a:off x="9101938" y="2701138"/>
            <a:ext cx="2735885" cy="2735885"/>
          </a:xfrm>
          <a:prstGeom prst="rect">
            <a:avLst/>
          </a:prstGeom>
        </p:spPr>
      </p:pic>
      <p:pic>
        <p:nvPicPr>
          <p:cNvPr id="5" name="Orb" descr="white glass orb">    </p:cNvPr>
          <p:cNvPicPr>
            <a:picLocks noChangeAspect="1"/>
          </p:cNvPicPr>
          <p:nvPr/>
        </p:nvPicPr>
        <p:blipFill>
          <a:blip r:embed="rId4"/>
          <a:stretch>
            <a:fillRect/>
          </a:stretch>
        </p:blipFill>
        <p:spPr>
          <a:xfrm>
            <a:off x="10666476" y="1339596"/>
            <a:ext cx="932688" cy="932688"/>
          </a:xfrm>
          <a:prstGeom prst="rect">
            <a:avLst/>
          </a:prstGeom>
        </p:spPr>
      </p:pic>
      <p:pic>
        <p:nvPicPr>
          <p:cNvPr id="6" name="Orb" descr="red glass orb">    </p:cNvPr>
          <p:cNvPicPr>
            <a:picLocks noChangeAspect="1"/>
          </p:cNvPicPr>
          <p:nvPr/>
        </p:nvPicPr>
        <p:blipFill>
          <a:blip r:embed="rId5"/>
          <a:stretch>
            <a:fillRect/>
          </a:stretch>
        </p:blipFill>
        <p:spPr>
          <a:xfrm>
            <a:off x="7507224" y="4215384"/>
            <a:ext cx="621792" cy="621792"/>
          </a:xfrm>
          <a:prstGeom prst="rect">
            <a:avLst/>
          </a:prstGeom>
        </p:spPr>
      </p:pic>
      <p:pic>
        <p:nvPicPr>
          <p:cNvPr id="7" name="Orb" descr="blue glass orb">    </p:cNvPr>
          <p:cNvPicPr>
            <a:picLocks noChangeAspect="1"/>
          </p:cNvPicPr>
          <p:nvPr/>
        </p:nvPicPr>
        <p:blipFill>
          <a:blip r:embed="rId6"/>
          <a:stretch>
            <a:fillRect/>
          </a:stretch>
        </p:blipFill>
        <p:spPr>
          <a:xfrm>
            <a:off x="8617671" y="4868631"/>
            <a:ext cx="522305" cy="522305"/>
          </a:xfrm>
          <a:prstGeom prst="rect">
            <a:avLst/>
          </a:prstGeom>
        </p:spPr>
      </p:pic>
      <p:sp>
        <p:nvSpPr>
          <p:cNvPr id="8" name="Text 0"/>
          <p:cNvSpPr txBox="1"/>
          <p:nvPr/>
        </p:nvSpPr>
        <p:spPr>
          <a:xfrm>
            <a:off x="640080" y="1280160"/>
            <a:ext cx="6675120" cy="365760"/>
          </a:xfrm>
          <a:prstGeom prst="rect">
            <a:avLst/>
          </a:prstGeom>
          <a:noFill/>
          <a:ln/>
        </p:spPr>
        <p:txBody>
          <a:bodyPr wrap="square" lIns="0" tIns="0" rIns="0" bIns="0" rtlCol="0" anchor="t"/>
          <a:lstStyle/>
          <a:p>
            <a:pPr indent="0" marL="0">
              <a:buNone/>
            </a:pPr>
            <a:r>
              <a:rPr lang="en-US" sz="1400" b="1" spc="300" kern="0" dirty="0">
                <a:solidFill>
                  <a:srgbClr val="FF5A67"/>
                </a:solidFill>
                <a:latin typeface="Courier New" pitchFamily="34" charset="0"/>
                <a:ea typeface="Courier New" pitchFamily="34" charset="-122"/>
                <a:cs typeface="Courier New" pitchFamily="34" charset="-120"/>
              </a:rPr>
              <a:t>// END OF REPORT</a:t>
            </a:r>
            <a:endParaRPr lang="en-US" sz="1400" dirty="0"/>
          </a:p>
        </p:txBody>
      </p:sp>
      <p:sp>
        <p:nvSpPr>
          <p:cNvPr id="9" name="Text 0"/>
          <p:cNvSpPr/>
          <p:nvPr>
            <p:ph idx="100" type="title" hasCustomPrompt="1"/>
          </p:nvPr>
        </p:nvSpPr>
        <p:spPr>
          <a:xfrm>
            <a:off x="640080" y="1783080"/>
            <a:ext cx="6675120" cy="1371600"/>
          </a:xfrm>
          <a:prstGeom prst="rect">
            <a:avLst/>
          </a:prstGeom>
          <a:noFill/>
          <a:ln/>
        </p:spPr>
        <p:txBody>
          <a:bodyPr wrap="square" lIns="0" tIns="0" rIns="0" bIns="0" rtlCol="0" anchor="t"/>
          <a:lstStyle/>
          <a:p>
            <a:pPr algn="l" indent="0" marL="0">
              <a:buNone/>
            </a:pPr>
            <a:r>
              <a:rPr lang="en-US" sz="4000" b="1" dirty="0">
                <a:solidFill>
                  <a:schemeClr val="bg1"/>
                </a:solidFill>
              </a:rPr>
              <a:t>THANK YOU</a:t>
            </a:r>
            <a:endParaRPr lang="en-US" sz="4000" dirty="0"/>
          </a:p>
        </p:txBody>
      </p:sp>
      <p:sp>
        <p:nvSpPr>
          <p:cNvPr id="10" name="Text 0"/>
          <p:cNvSpPr/>
          <p:nvPr>
            <p:ph idx="101" type="body" hasCustomPrompt="1"/>
          </p:nvPr>
        </p:nvSpPr>
        <p:spPr>
          <a:xfrm>
            <a:off x="640080" y="3246120"/>
            <a:ext cx="6035040" cy="731520"/>
          </a:xfrm>
          <a:prstGeom prst="rect">
            <a:avLst/>
          </a:prstGeom>
          <a:noFill/>
          <a:ln/>
        </p:spPr>
        <p:txBody>
          <a:bodyPr wrap="square" lIns="0" tIns="0" rIns="0" bIns="0" rtlCol="0" anchor="t"/>
          <a:lstStyle/>
          <a:p>
            <a:pPr algn="l" indent="0" marL="0">
              <a:buNone/>
            </a:pPr>
            <a:r>
              <a:rPr lang="en-US" sz="1800" dirty="0">
                <a:solidFill>
                  <a:srgbClr val="C9D2F0"/>
                </a:solidFill>
              </a:rPr>
              <a:t>Questions are welcome</a:t>
            </a:r>
            <a:endParaRPr lang="en-US" sz="1800" dirty="0"/>
          </a:p>
        </p:txBody>
      </p:sp>
      <p:pic>
        <p:nvPicPr>
          <p:cNvPr id="11" name="Glass panel" descr="Glass panel">    </p:cNvPr>
          <p:cNvPicPr>
            <a:picLocks noChangeAspect="1"/>
          </p:cNvPicPr>
          <p:nvPr/>
        </p:nvPicPr>
        <p:blipFill>
          <a:blip r:embed="rId7"/>
          <a:stretch>
            <a:fillRect/>
          </a:stretch>
        </p:blipFill>
        <p:spPr>
          <a:xfrm>
            <a:off x="365760" y="3931920"/>
            <a:ext cx="6309360" cy="2331720"/>
          </a:xfrm>
          <a:prstGeom prst="rect">
            <a:avLst/>
          </a:prstGeom>
        </p:spPr>
      </p:pic>
      <p:sp>
        <p:nvSpPr>
          <p:cNvPr id="12" name="Text 3"/>
          <p:cNvSpPr txBox="1"/>
          <p:nvPr/>
        </p:nvSpPr>
        <p:spPr>
          <a:xfrm>
            <a:off x="960120" y="4389120"/>
            <a:ext cx="3657600" cy="274320"/>
          </a:xfrm>
          <a:prstGeom prst="rect">
            <a:avLst/>
          </a:prstGeom>
          <a:noFill/>
          <a:ln/>
        </p:spPr>
        <p:txBody>
          <a:bodyPr wrap="square" lIns="0" tIns="0" rIns="0" bIns="0" rtlCol="0" anchor="t"/>
          <a:lstStyle/>
          <a:p>
            <a:pPr indent="0" marL="0">
              <a:buNone/>
            </a:pPr>
            <a:r>
              <a:rPr lang="en-US" sz="1100" b="1" spc="300" kern="0" dirty="0">
                <a:solidFill>
                  <a:srgbClr val="FF5A67"/>
                </a:solidFill>
                <a:latin typeface="Courier New" pitchFamily="34" charset="0"/>
                <a:ea typeface="Courier New" pitchFamily="34" charset="-122"/>
                <a:cs typeface="Courier New" pitchFamily="34" charset="-120"/>
              </a:rPr>
              <a:t>PRESENTED BY</a:t>
            </a:r>
            <a:endParaRPr lang="en-US" sz="1100" dirty="0"/>
          </a:p>
        </p:txBody>
      </p:sp>
      <p:sp>
        <p:nvSpPr>
          <p:cNvPr id="13" name="Text 4"/>
          <p:cNvSpPr txBox="1"/>
          <p:nvPr/>
        </p:nvSpPr>
        <p:spPr>
          <a:xfrm>
            <a:off x="960120" y="4709160"/>
            <a:ext cx="5120640" cy="457200"/>
          </a:xfrm>
          <a:prstGeom prst="rect">
            <a:avLst/>
          </a:prstGeom>
          <a:noFill/>
          <a:ln/>
        </p:spPr>
        <p:txBody>
          <a:bodyPr wrap="square" lIns="0" tIns="0" rIns="0" bIns="0" rtlCol="0" anchor="t"/>
          <a:lstStyle/>
          <a:p>
            <a:pPr indent="0" marL="0">
              <a:buNone/>
            </a:pPr>
            <a:r>
              <a:rPr lang="en-US" sz="2400" b="1" dirty="0">
                <a:solidFill>
                  <a:schemeClr val="bg1"/>
                </a:solidFill>
              </a:rPr>
              <a:t>Abu Talha Aslam Ansari</a:t>
            </a:r>
            <a:endParaRPr lang="en-US" sz="2400" dirty="0"/>
          </a:p>
        </p:txBody>
      </p:sp>
      <p:sp>
        <p:nvSpPr>
          <p:cNvPr id="14" name="Text 5"/>
          <p:cNvSpPr txBox="1"/>
          <p:nvPr/>
        </p:nvSpPr>
        <p:spPr>
          <a:xfrm>
            <a:off x="960120" y="5230368"/>
            <a:ext cx="5120640" cy="320040"/>
          </a:xfrm>
          <a:prstGeom prst="rect">
            <a:avLst/>
          </a:prstGeom>
          <a:noFill/>
          <a:ln/>
        </p:spPr>
        <p:txBody>
          <a:bodyPr wrap="square" lIns="0" tIns="0" rIns="0" bIns="0" rtlCol="0" anchor="t"/>
          <a:lstStyle/>
          <a:p>
            <a:pPr indent="0" marL="0">
              <a:buNone/>
            </a:pPr>
            <a:r>
              <a:rPr lang="en-US" sz="1200" dirty="0">
                <a:solidFill>
                  <a:srgbClr val="A9B4D6"/>
                </a:solidFill>
                <a:latin typeface="Courier New" pitchFamily="34" charset="0"/>
                <a:ea typeface="Courier New" pitchFamily="34" charset="-122"/>
                <a:cs typeface="Courier New" pitchFamily="34" charset="-120"/>
              </a:rPr>
              <a:t>ROLL NO.  </a:t>
            </a:r>
            <a:pPr indent="0" marL="0">
              <a:buNone/>
            </a:pPr>
            <a:r>
              <a:rPr lang="en-US" sz="1600" b="1" dirty="0">
                <a:solidFill>
                  <a:schemeClr val="bg1"/>
                </a:solidFill>
                <a:latin typeface="Courier New" pitchFamily="34" charset="0"/>
                <a:ea typeface="Courier New" pitchFamily="34" charset="-122"/>
                <a:cs typeface="Courier New" pitchFamily="34" charset="-120"/>
              </a:rPr>
              <a:t>1250645012</a:t>
            </a:r>
            <a:endParaRPr lang="en-US" sz="1200" dirty="0"/>
          </a:p>
        </p:txBody>
      </p:sp>
      <p:sp>
        <p:nvSpPr>
          <p:cNvPr id="15" name="Text 6"/>
          <p:cNvSpPr txBox="1"/>
          <p:nvPr/>
        </p:nvSpPr>
        <p:spPr>
          <a:xfrm>
            <a:off x="960120" y="5559552"/>
            <a:ext cx="5120640" cy="320040"/>
          </a:xfrm>
          <a:prstGeom prst="rect">
            <a:avLst/>
          </a:prstGeom>
          <a:noFill/>
          <a:ln/>
        </p:spPr>
        <p:txBody>
          <a:bodyPr wrap="square" lIns="0" tIns="0" rIns="0" bIns="0" rtlCol="0" anchor="t"/>
          <a:lstStyle/>
          <a:p>
            <a:pPr indent="0" marL="0">
              <a:buNone/>
            </a:pPr>
            <a:r>
              <a:rPr lang="en-US" sz="1200" dirty="0">
                <a:solidFill>
                  <a:srgbClr val="A9B4D6"/>
                </a:solidFill>
                <a:latin typeface="Courier New" pitchFamily="34" charset="0"/>
                <a:ea typeface="Courier New" pitchFamily="34" charset="-122"/>
                <a:cs typeface="Courier New" pitchFamily="34" charset="-120"/>
              </a:rPr>
              <a:t>FACULTY   </a:t>
            </a:r>
            <a:pPr indent="0" marL="0">
              <a:buNone/>
            </a:pPr>
            <a:r>
              <a:rPr lang="en-US" sz="1600" b="1" dirty="0">
                <a:solidFill>
                  <a:schemeClr val="bg1"/>
                </a:solidFill>
                <a:latin typeface="Courier New" pitchFamily="34" charset="0"/>
                <a:ea typeface="Courier New" pitchFamily="34" charset="-122"/>
                <a:cs typeface="Courier New" pitchFamily="34" charset="-120"/>
              </a:rPr>
              <a:t>Shubham Pathak</a:t>
            </a:r>
            <a:endParaRPr lang="en-US" sz="1200" dirty="0"/>
          </a:p>
        </p:txBody>
      </p:sp>
    </p:spTree>
  </p:cSld>
  <p:clrMapOvr>
    <a:masterClrMapping/>
  </p:clrMapOvr>
</p:sld>
</file>

<file path=ppt/theme/theme1.xml><?xml version="1.0" encoding="utf-8"?>
<a:theme xmlns:a="http://schemas.openxmlformats.org/drawingml/2006/main" name="Autobot Glass">
  <a:themeElements>
    <a:clrScheme name="Autobot Glass">
      <a:dk1>
        <a:srgbClr val="05060E"/>
      </a:dk1>
      <a:lt1>
        <a:srgbClr val="FFFFFF"/>
      </a:lt1>
      <a:dk2>
        <a:srgbClr val="0B1020"/>
      </a:dk2>
      <a:lt2>
        <a:srgbClr val="A9B4D6"/>
      </a:lt2>
      <a:accent1>
        <a:srgbClr val="E0212F"/>
      </a:accent1>
      <a:accent2>
        <a:srgbClr val="2F86FF"/>
      </a:accent2>
      <a:accent3>
        <a:srgbClr val="DCE4FF"/>
      </a:accent3>
      <a:accent4>
        <a:srgbClr val="FF6B6B"/>
      </a:accent4>
      <a:accent5>
        <a:srgbClr val="6FB1FF"/>
      </a:accent5>
      <a:accent6>
        <a:srgbClr val="8A93B8"/>
      </a:accent6>
      <a:hlink>
        <a:srgbClr val="6FB1FF"/>
      </a:hlink>
      <a:folHlink>
        <a:srgbClr val="FF5A67"/>
      </a:folHlink>
    </a:clrScheme>
    <a:fontScheme name="Autobot Glas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Average Social Media Time Analysis</dc:title>
  <dc:subject>PptxGenJS Presentation</dc:subject>
  <dc:creator>PptxGenJS</dc:creator>
  <cp:lastModifiedBy>PptxGenJS</cp:lastModifiedBy>
  <cp:revision>1</cp:revision>
  <dcterms:created xsi:type="dcterms:W3CDTF">2026-10-15T18:15:47Z</dcterms:created>
  <dcterms:modified xsi:type="dcterms:W3CDTF">2026-10-15T18:15:47Z</dcterms:modified>
</cp:coreProperties>
</file>